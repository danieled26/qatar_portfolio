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fair Display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91200" y="3554462"/>
            <a:ext cx="609600" cy="1905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5911453"/>
            <a:ext cx="11277600" cy="952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290" y="1684245"/>
            <a:ext cx="304911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37" b="1" i="0">
                <a:solidFill>
                  <a:srgbClr val="C9A96E"/>
                </a:solidFill>
                <a:latin typeface="Aptos"/>
              </a:rPr>
              <a:t>Passenger Experience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5288" y="2008087"/>
            <a:ext cx="5820968" cy="14199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875" b="1" i="0">
                <a:solidFill>
                  <a:srgbClr val="F7F3EC"/>
                </a:solidFill>
                <a:latin typeface="Playfair Display"/>
              </a:rPr>
              <a:t>Passenger Experience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3757" y="3756179"/>
            <a:ext cx="5484030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65" b="0" i="1">
                <a:solidFill>
                  <a:srgbClr val="D4B07A"/>
                </a:solidFill>
                <a:latin typeface="Playfair Display"/>
              </a:rPr>
              <a:t>A Data-Driven Approach to Airline Product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0008" y="4341207"/>
            <a:ext cx="309152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C9A96E"/>
                </a:solidFill>
                <a:latin typeface="Aptos"/>
              </a:rPr>
              <a:t>From Raw Reviews to Executive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88" y="6286342"/>
            <a:ext cx="93119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3" b="1" i="0">
                <a:solidFill>
                  <a:srgbClr val="D4B07A"/>
                </a:solidFill>
                <a:latin typeface="Aptos"/>
              </a:rPr>
              <a:t>Edwin Daniels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88" y="6103586"/>
            <a:ext cx="76659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3" b="0" i="0">
                <a:solidFill>
                  <a:srgbClr val="C9A96E"/>
                </a:solidFill>
                <a:latin typeface="Aptos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5435" y="6210144"/>
            <a:ext cx="529070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76" b="1" i="0">
                <a:solidFill>
                  <a:srgbClr val="D4B07A"/>
                </a:solidFill>
                <a:latin typeface="Playfair Display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52500" y="2998589"/>
            <a:ext cx="457200" cy="1905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" y="5024288"/>
            <a:ext cx="1556742" cy="278010"/>
          </a:xfrm>
          <a:prstGeom prst="roundRect">
            <a:avLst>
              <a:gd name="adj" fmla="val 50000"/>
            </a:avLst>
          </a:prstGeom>
          <a:solidFill>
            <a:srgbClr val="C9A9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397" y="5106016"/>
            <a:ext cx="114297" cy="1142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23542" y="5024288"/>
            <a:ext cx="1790402" cy="278010"/>
          </a:xfrm>
          <a:prstGeom prst="roundRect">
            <a:avLst>
              <a:gd name="adj" fmla="val 50000"/>
            </a:avLst>
          </a:prstGeom>
          <a:solidFill>
            <a:srgbClr val="C9A9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397" y="5113159"/>
            <a:ext cx="114297" cy="1000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28244" y="5024288"/>
            <a:ext cx="1623566" cy="278010"/>
          </a:xfrm>
          <a:prstGeom prst="roundRect">
            <a:avLst>
              <a:gd name="adj" fmla="val 50000"/>
            </a:avLst>
          </a:prstGeom>
          <a:solidFill>
            <a:srgbClr val="C9A9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1838" y="5107802"/>
            <a:ext cx="110725" cy="1079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1326918"/>
            <a:ext cx="1355195" cy="18287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9" b="1" i="0">
                <a:solidFill>
                  <a:srgbClr val="C9A96E"/>
                </a:solidFill>
                <a:latin typeface="Playfair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060" y="2927078"/>
            <a:ext cx="69560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C9A96E"/>
                </a:solidFill>
                <a:latin typeface="Aptos"/>
              </a:rPr>
              <a:t>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3596639"/>
            <a:ext cx="3023814" cy="6476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63" b="1" i="0">
                <a:solidFill>
                  <a:srgbClr val="F7F3EC"/>
                </a:solidFill>
                <a:latin typeface="Playfair Display"/>
              </a:rPr>
              <a:t>Data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395528"/>
            <a:ext cx="5476440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7" b="0" i="1">
                <a:solidFill>
                  <a:srgbClr val="D4B07A"/>
                </a:solidFill>
                <a:latin typeface="Aptos"/>
              </a:rPr>
              <a:t>Explore the data, understand the passenger, drive the product.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892" y="5086966"/>
            <a:ext cx="104236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Portfolio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5892" y="5086966"/>
            <a:ext cx="127602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Power BI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0547" y="5086966"/>
            <a:ext cx="110918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0396" y="6505412"/>
            <a:ext cx="1384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C9A96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345108"/>
            <a:ext cx="38100" cy="6858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517999"/>
            <a:ext cx="1886694" cy="339030"/>
          </a:xfrm>
          <a:prstGeom prst="roundRect">
            <a:avLst>
              <a:gd name="adj" fmla="val 22475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84" y="3629559"/>
            <a:ext cx="144657" cy="1157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948410"/>
            <a:ext cx="1871216" cy="339030"/>
          </a:xfrm>
          <a:prstGeom prst="roundRect">
            <a:avLst>
              <a:gd name="adj" fmla="val 22475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25" y="4045493"/>
            <a:ext cx="126575" cy="1446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378821"/>
            <a:ext cx="2109043" cy="339030"/>
          </a:xfrm>
          <a:prstGeom prst="roundRect">
            <a:avLst>
              <a:gd name="adj" fmla="val 22475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84" y="4491966"/>
            <a:ext cx="144657" cy="1125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47605" y="457200"/>
            <a:ext cx="9525" cy="5943600"/>
          </a:xfrm>
          <a:prstGeom prst="rect">
            <a:avLst/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5730" y="1607939"/>
            <a:ext cx="2748408" cy="1635769"/>
          </a:xfrm>
          <a:prstGeom prst="roundRect">
            <a:avLst>
              <a:gd name="adj" fmla="val 58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278016" y="1830734"/>
            <a:ext cx="419100" cy="4191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3616" y="1956445"/>
            <a:ext cx="167568" cy="167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78016" y="2838301"/>
            <a:ext cx="424160" cy="21312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16900" y="1607939"/>
            <a:ext cx="2748408" cy="1635769"/>
          </a:xfrm>
          <a:prstGeom prst="roundRect">
            <a:avLst>
              <a:gd name="adj" fmla="val 58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09186" y="1830734"/>
            <a:ext cx="419100" cy="4191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719" y="1973189"/>
            <a:ext cx="167563" cy="13408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209186" y="2838301"/>
            <a:ext cx="561379" cy="21312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5730" y="3426469"/>
            <a:ext cx="2748408" cy="182344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78016" y="3649265"/>
            <a:ext cx="419100" cy="4191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2926" y="3784247"/>
            <a:ext cx="148956" cy="14894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78016" y="4656832"/>
            <a:ext cx="647253" cy="21312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16900" y="3426469"/>
            <a:ext cx="2748408" cy="182344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09186" y="3649265"/>
            <a:ext cx="419100" cy="4191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712" y="3774930"/>
            <a:ext cx="167576" cy="16757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209186" y="4844504"/>
            <a:ext cx="617487" cy="21312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15500" y="0"/>
            <a:ext cx="2476500" cy="2476500"/>
          </a:xfrm>
          <a:prstGeom prst="ellipse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188" y="2206024"/>
            <a:ext cx="3085873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Analysis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88" y="2759948"/>
            <a:ext cx="4743331" cy="4609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87" b="0" i="0">
                <a:solidFill>
                  <a:srgbClr val="2C1810"/>
                </a:solidFill>
                <a:latin typeface="Aptos"/>
              </a:rPr>
              <a:t>Six analytical workstreams. 1,957 real voices. Every output framed with a product decision in mind.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800" y="3601699"/>
            <a:ext cx="133063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1" i="0">
                <a:solidFill>
                  <a:srgbClr val="F7F3EC"/>
                </a:solidFill>
                <a:latin typeface="Aptos"/>
              </a:rPr>
              <a:t>1,957 Skytrax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800" y="4032099"/>
            <a:ext cx="131516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1" i="0">
                <a:solidFill>
                  <a:srgbClr val="F7F3EC"/>
                </a:solidFill>
                <a:latin typeface="Aptos"/>
              </a:rPr>
              <a:t>May 2016 –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800" y="4462499"/>
            <a:ext cx="155298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7" b="1" i="0">
                <a:solidFill>
                  <a:srgbClr val="F7F3EC"/>
                </a:solidFill>
                <a:latin typeface="Aptos"/>
              </a:rPr>
              <a:t>6 analytical workstreams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8836" y="1939330"/>
            <a:ext cx="1083441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Data 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7859" y="2365861"/>
            <a:ext cx="2163162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2C1810"/>
                </a:solidFill>
                <a:latin typeface="Aptos"/>
              </a:rPr>
              <a:t>1,957 Skytrax reviews scraped across a 10-year span from airlinequality.com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7295" y="2847635"/>
            <a:ext cx="405278" cy="194305"/>
          </a:xfrm>
          <a:prstGeom prst="rect">
            <a:avLst/>
          </a:prstGeom>
          <a:noFill/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EDA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9933" y="1939330"/>
            <a:ext cx="1091478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Python Scraper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956" y="2365861"/>
            <a:ext cx="2025351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2C1810"/>
                </a:solidFill>
                <a:latin typeface="Aptos"/>
              </a:rPr>
              <a:t>Custom-built scraper to extract and structure passenger reviews at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8391" y="2847635"/>
            <a:ext cx="542494" cy="194305"/>
          </a:xfrm>
          <a:prstGeom prst="rect">
            <a:avLst/>
          </a:prstGeom>
          <a:noFill/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Python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8836" y="3757816"/>
            <a:ext cx="118330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Six Workstreams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7859" y="4184346"/>
            <a:ext cx="2352467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2C1810"/>
                </a:solidFill>
                <a:latin typeface="Aptos"/>
              </a:rPr>
              <a:t>EDA · NLP · Semantic Clustering · Power BI · Synthetic A/B Tests · Propensity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7295" y="4666121"/>
            <a:ext cx="628366" cy="194305"/>
          </a:xfrm>
          <a:prstGeom prst="rect">
            <a:avLst/>
          </a:prstGeom>
          <a:noFill/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NLP ·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9933" y="3666437"/>
            <a:ext cx="1254589" cy="38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Product-Decision Framing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956" y="4184346"/>
            <a:ext cx="1994544" cy="537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2C1810"/>
                </a:solidFill>
                <a:latin typeface="Aptos"/>
              </a:rPr>
              <a:t>Every analytical output mapped to a commercial or product decision — actionable by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8391" y="4853788"/>
            <a:ext cx="598601" cy="194305"/>
          </a:xfrm>
          <a:prstGeom prst="rect">
            <a:avLst/>
          </a:prstGeom>
          <a:noFill/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13651" y="6528331"/>
            <a:ext cx="37325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816D47"/>
                </a:solidFill>
                <a:latin typeface="Aptos"/>
              </a:rPr>
              <a:t>03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188" y="5022525"/>
            <a:ext cx="5055118" cy="490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59837" indent="-159837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816D47"/>
              </a:buClr>
              <a:buSzPct val="100000"/>
              <a:buFont typeface="Aptos" charset="0"/>
              <a:buChar char="●"/>
            </a:pPr>
            <a:r>
              <a:rPr sz="992" b="0" i="0">
                <a:solidFill>
                  <a:srgbClr val="2C1810"/>
                </a:solidFill>
                <a:latin typeface="Aptos"/>
              </a:rPr>
              <a:t>Scraped directly from </a:t>
            </a:r>
            <a:r>
              <a:rPr sz="1014" b="1" i="0">
                <a:solidFill>
                  <a:srgbClr val="4A0E25"/>
                </a:solidFill>
                <a:latin typeface="Aptos"/>
              </a:rPr>
              <a:t>airlinequality.com</a:t>
            </a:r>
            <a:r>
              <a:rPr sz="992" b="0" i="0">
                <a:solidFill>
                  <a:srgbClr val="2C1810"/>
                </a:solidFill>
                <a:latin typeface="Aptos"/>
              </a:rPr>
              <a:t> — no aggregator dependency</a:t>
            </a:r>
          </a:p>
          <a:p>
            <a:pPr marL="159837" indent="-159837" algn="l">
              <a:lnSpc>
                <a:spcPts val="1440"/>
              </a:lnSpc>
              <a:spcBef>
                <a:spcPts val="659"/>
              </a:spcBef>
              <a:spcAft>
                <a:spcPts val="0"/>
              </a:spcAft>
              <a:buClr>
                <a:srgbClr val="816D47"/>
              </a:buClr>
              <a:buSzPct val="100000"/>
              <a:buFont typeface="Aptos" charset="0"/>
              <a:buChar char="●"/>
            </a:pPr>
            <a:r>
              <a:rPr sz="992" b="0" i="0">
                <a:solidFill>
                  <a:srgbClr val="2C1810"/>
                </a:solidFill>
                <a:latin typeface="Aptos"/>
              </a:rPr>
              <a:t>Every output is framed around a </a:t>
            </a:r>
            <a:r>
              <a:rPr sz="1014" b="1" i="0">
                <a:solidFill>
                  <a:srgbClr val="4A0E25"/>
                </a:solidFill>
                <a:latin typeface="Aptos"/>
              </a:rPr>
              <a:t>product decision</a:t>
            </a:r>
            <a:r>
              <a:rPr sz="992" b="0" i="0">
                <a:solidFill>
                  <a:srgbClr val="2C1810"/>
                </a:solidFill>
                <a:latin typeface="Aptos"/>
              </a:rPr>
              <a:t>, not just a statistical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670" y="1158031"/>
            <a:ext cx="2750939" cy="760214"/>
          </a:xfrm>
          <a:prstGeom prst="roundRect">
            <a:avLst>
              <a:gd name="adj" fmla="val 12529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69009" y="1158031"/>
            <a:ext cx="2750939" cy="760214"/>
          </a:xfrm>
          <a:prstGeom prst="roundRect">
            <a:avLst>
              <a:gd name="adj" fmla="val 12529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348" y="1158031"/>
            <a:ext cx="2750939" cy="760214"/>
          </a:xfrm>
          <a:prstGeom prst="roundRect">
            <a:avLst>
              <a:gd name="adj" fmla="val 12529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75687" y="1158031"/>
            <a:ext cx="2750939" cy="760214"/>
          </a:xfrm>
          <a:prstGeom prst="roundRect">
            <a:avLst>
              <a:gd name="adj" fmla="val 12529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8545" y="2154435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887" y="2238170"/>
            <a:ext cx="119933" cy="13706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8545" y="2895600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307" y="2987860"/>
            <a:ext cx="137080" cy="11567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08545" y="3467992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887" y="3551694"/>
            <a:ext cx="119933" cy="13706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08545" y="4209157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321" y="4301406"/>
            <a:ext cx="137067" cy="11993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330255" y="2154435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3450" y="2238170"/>
            <a:ext cx="77509" cy="13706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330255" y="2895600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2451" y="2979315"/>
            <a:ext cx="119933" cy="137067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30255" y="3636764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886" y="3741021"/>
            <a:ext cx="137043" cy="95946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330255" y="4209157"/>
            <a:ext cx="304800" cy="30480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8168" y="4292839"/>
            <a:ext cx="128500" cy="1363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661" y="266693"/>
            <a:ext cx="2462746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Data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661" y="780583"/>
            <a:ext cx="5923955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7" b="0" i="0">
                <a:solidFill>
                  <a:srgbClr val="2C1810"/>
                </a:solidFill>
                <a:latin typeface="Aptos"/>
              </a:rPr>
              <a:t>1,957 real voices. 10 years. 26 variables. Every data point genuine passenger voice.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9040" y="1234200"/>
            <a:ext cx="644112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39" b="1" i="0">
                <a:solidFill>
                  <a:srgbClr val="D4B07A"/>
                </a:solidFill>
                <a:latin typeface="Playfair Display"/>
              </a:rPr>
              <a:t>1,957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3048" y="1645551"/>
            <a:ext cx="83594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3" b="0" i="0">
                <a:solidFill>
                  <a:srgbClr val="F7F3EC"/>
                </a:solidFill>
                <a:latin typeface="Aptos"/>
              </a:rPr>
              <a:t>Skytrax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9019" y="1234200"/>
            <a:ext cx="330538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39" b="1" i="0">
                <a:solidFill>
                  <a:srgbClr val="D4B07A"/>
                </a:solidFill>
                <a:latin typeface="Playfair Display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2344" y="1645551"/>
            <a:ext cx="108388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3" b="0" i="0">
                <a:solidFill>
                  <a:srgbClr val="F7F3EC"/>
                </a:solidFill>
                <a:latin typeface="Aptos"/>
              </a:rPr>
              <a:t>Variables per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9106" y="1234200"/>
            <a:ext cx="81689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39" b="1" i="0">
                <a:solidFill>
                  <a:srgbClr val="D4B07A"/>
                </a:solidFill>
                <a:latin typeface="Playfair Display"/>
              </a:rPr>
              <a:t>5.8/10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736" y="1645551"/>
            <a:ext cx="215378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3" b="0" i="0">
                <a:solidFill>
                  <a:srgbClr val="F7F3EC"/>
                </a:solidFill>
                <a:latin typeface="Aptos"/>
              </a:rPr>
              <a:t>2024 Average Rating — Lowest on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4148" y="1234200"/>
            <a:ext cx="1013494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39" b="1" i="0">
                <a:solidFill>
                  <a:srgbClr val="D4B07A"/>
                </a:solidFill>
                <a:latin typeface="Playfair Display"/>
              </a:rPr>
              <a:t>119,500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236" y="1645551"/>
            <a:ext cx="152917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63" b="0" i="0">
                <a:solidFill>
                  <a:srgbClr val="F7F3EC"/>
                </a:solidFill>
                <a:latin typeface="Aptos"/>
              </a:rPr>
              <a:t>Rows — 5 Synthetic Datasets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293" y="2154382"/>
            <a:ext cx="137603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Primary Dataset — Skytrax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293" y="2306629"/>
            <a:ext cx="4875933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Scraped directly from airlinequality.com — not sourced from an aggregator. May 2016 – May 2026.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293" y="2895527"/>
            <a:ext cx="122303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26 Variables per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293" y="3047774"/>
            <a:ext cx="449509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Overall rating, 7 category scores, cabin class, route, aircraft, country, full review text.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293" y="3467906"/>
            <a:ext cx="170895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5 Synthetic Operational Datasets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293" y="3620153"/>
            <a:ext cx="4559682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119,500 rows total — statistically realistic distributions with embedded anomalies for modelling.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293" y="4209051"/>
            <a:ext cx="18507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2024 — Worst-Rated Year on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293" y="4361299"/>
            <a:ext cx="4496729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5.8/10 average — a 2.4-point fall from the 2021 peak. Trend demands urgent product intervention.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3857" y="2154382"/>
            <a:ext cx="19836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Value for Money — Strongest Predictor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3857" y="2306629"/>
            <a:ext cx="4357429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Pearson r = 0.86 correlation with positive recommendation — the primary product investment lever.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3857" y="2895527"/>
            <a:ext cx="106573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First Class Food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3857" y="3047774"/>
            <a:ext cx="4378265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First Class food scores avg 3.87 vs Business Class 4.06 — a 0.19pt premium cabin expectation gap.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3857" y="3636673"/>
            <a:ext cx="159792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Wi-Fi Non-Response Rate: 46%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3857" y="3788920"/>
            <a:ext cx="483887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Passengers cannot rate what they cannot use — a direct product gap signal in connectivity.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3857" y="4209051"/>
            <a:ext cx="155238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Verified vs Unverified Reviews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3857" y="4361299"/>
            <a:ext cx="4812683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4" b="0" i="0">
                <a:solidFill>
                  <a:srgbClr val="2C1810"/>
                </a:solidFill>
                <a:latin typeface="Aptos"/>
              </a:rPr>
              <a:t>Verified reviews score 1.1pts lower — a methodological anchor for interpreting raw Skytrax ratings.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661" y="6482642"/>
            <a:ext cx="272363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5A3E28"/>
                </a:solidFill>
                <a:latin typeface="Aptos"/>
              </a:rPr>
              <a:t>Passenger Experience Analytics — Edwin Daniels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87626" y="6482642"/>
            <a:ext cx="1384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5A3E2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0" y="0"/>
            <a:ext cx="48768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1093886"/>
            <a:ext cx="571500" cy="1905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295697"/>
            <a:ext cx="6629400" cy="157847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58105" y="1434703"/>
            <a:ext cx="476250" cy="4762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093" y="1573669"/>
            <a:ext cx="198085" cy="1980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6755" y="2287041"/>
            <a:ext cx="5646539" cy="19794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628" y="2328804"/>
            <a:ext cx="114297" cy="1142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2988468"/>
            <a:ext cx="6629400" cy="157847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8105" y="3127474"/>
            <a:ext cx="476250" cy="4762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93" y="3288407"/>
            <a:ext cx="198085" cy="1540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86755" y="3792140"/>
            <a:ext cx="5646539" cy="19794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3978" y="3840220"/>
            <a:ext cx="101597" cy="1015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1000" y="4681239"/>
            <a:ext cx="6629400" cy="157847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8105" y="4820245"/>
            <a:ext cx="476250" cy="4762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382" y="4962415"/>
            <a:ext cx="191508" cy="19150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86755" y="5484911"/>
            <a:ext cx="5646539" cy="197941"/>
          </a:xfrm>
          <a:prstGeom prst="roundRect">
            <a:avLst>
              <a:gd name="adj" fmla="val 5000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7628" y="5533737"/>
            <a:ext cx="114319" cy="1000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0" y="1619547"/>
            <a:ext cx="4495800" cy="3768774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07485" y="2059483"/>
            <a:ext cx="1998464" cy="1036141"/>
          </a:xfrm>
          <a:prstGeom prst="roundRect">
            <a:avLst>
              <a:gd name="adj" fmla="val 7354"/>
            </a:avLst>
          </a:prstGeom>
          <a:solidFill>
            <a:srgbClr val="FDF5E8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20250" y="2059483"/>
            <a:ext cx="1998464" cy="1036141"/>
          </a:xfrm>
          <a:prstGeom prst="roundRect">
            <a:avLst>
              <a:gd name="adj" fmla="val 7354"/>
            </a:avLst>
          </a:prstGeom>
          <a:solidFill>
            <a:srgbClr val="FDF5E8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07485" y="3187005"/>
            <a:ext cx="4111228" cy="506610"/>
          </a:xfrm>
          <a:prstGeom prst="roundRect">
            <a:avLst>
              <a:gd name="adj" fmla="val 15041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1607" y="3366910"/>
            <a:ext cx="167564" cy="14662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315200" y="5502622"/>
            <a:ext cx="4495800" cy="7572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5502622"/>
            <a:ext cx="50800" cy="757237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31696" y="5633747"/>
            <a:ext cx="115208" cy="167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0990" y="257168"/>
            <a:ext cx="3208802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Sentiment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762278"/>
            <a:ext cx="7265160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7" b="0" i="0">
                <a:solidFill>
                  <a:srgbClr val="2C1810"/>
                </a:solidFill>
                <a:latin typeface="Aptos"/>
              </a:rPr>
              <a:t>What passengers say, and what they actually mean — grouping complaints by meaning, not by words.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6725" y="1434667"/>
            <a:ext cx="240902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4A0E25"/>
                </a:solidFill>
                <a:latin typeface="Playfair Display"/>
              </a:rPr>
              <a:t>LLM-Powered Sentiment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6725" y="1665047"/>
            <a:ext cx="5391461" cy="537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9" b="0" i="0">
                <a:solidFill>
                  <a:srgbClr val="2C1810"/>
                </a:solidFill>
                <a:latin typeface="Aptos"/>
              </a:rPr>
              <a:t>Llama 3.1 8B &amp; Qwen via Groq API and Ollama extract context-aware sentiment — replaces keyword-matching. 40+ structured fields per review: score, emotion, sarcasm flag, competitor mentions, rebook intent.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0024" y="2319279"/>
            <a:ext cx="105918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40+ fields per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6725" y="3127395"/>
            <a:ext cx="216063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4A0E25"/>
                </a:solidFill>
                <a:latin typeface="Playfair Display"/>
              </a:rPr>
              <a:t>Semantic Clustering by Meaning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6725" y="3357776"/>
            <a:ext cx="5185786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9" b="0" i="0">
                <a:solidFill>
                  <a:srgbClr val="2C1810"/>
                </a:solidFill>
                <a:latin typeface="Aptos"/>
              </a:rPr>
              <a:t>Sentence embeddings (all-MiniLM-L6-v2, 384 dimensions) cluster complaints by semantic direction. Silhouette analysis tests k=4 to k=11 — no arbitrary grouping.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0024" y="3824340"/>
            <a:ext cx="108865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384-dim embeddings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6725" y="4820124"/>
            <a:ext cx="239428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4A0E25"/>
                </a:solidFill>
                <a:latin typeface="Playfair Display"/>
              </a:rPr>
              <a:t>Product-Ready Cluster Breakdowns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6725" y="5050504"/>
            <a:ext cx="5579724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9" b="0" i="0">
                <a:solidFill>
                  <a:srgbClr val="2C1810"/>
                </a:solidFill>
                <a:latin typeface="Aptos"/>
              </a:rPr>
              <a:t>Each cluster carries route, cabin, and time-period breakdowns — a product manager can act without reading individual reviews. 10 product theme dimensions output as Power BI-ready CSVs.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24" y="5517069"/>
            <a:ext cx="118806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10 product dimensions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017" y="1295665"/>
            <a:ext cx="1440769" cy="209544"/>
          </a:xfrm>
          <a:prstGeom prst="rect">
            <a:avLst/>
          </a:prstGeom>
          <a:solidFill>
            <a:srgbClr val="4A0E25"/>
          </a:solidFill>
        </p:spPr>
        <p:txBody>
          <a:bodyPr wrap="none" lIns="114297" tIns="38099" rIns="114297" bIns="38099">
            <a:spAutoFit/>
          </a:bodyPr>
          <a:lstStyle/>
          <a:p>
            <a:pPr algn="l"/>
            <a:r>
              <a:rPr sz="827" b="1" i="0">
                <a:solidFill>
                  <a:srgbClr val="F7F3EC"/>
                </a:solidFill>
                <a:latin typeface="Aptos"/>
              </a:rPr>
              <a:t>PSI 65 vs Rec. Rate 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7164" y="1295665"/>
            <a:ext cx="1317244" cy="209544"/>
          </a:xfrm>
          <a:prstGeom prst="rect">
            <a:avLst/>
          </a:prstGeom>
          <a:solidFill>
            <a:srgbClr val="4A0E25"/>
          </a:solidFill>
        </p:spPr>
        <p:txBody>
          <a:bodyPr wrap="none" lIns="114297" tIns="38099" rIns="114297" bIns="38099">
            <a:spAutoFit/>
          </a:bodyPr>
          <a:lstStyle/>
          <a:p>
            <a:pPr algn="l"/>
            <a:r>
              <a:rPr sz="827" b="1" i="0">
                <a:solidFill>
                  <a:srgbClr val="F7F3EC"/>
                </a:solidFill>
                <a:latin typeface="Aptos"/>
              </a:rPr>
              <a:t>384-dim 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7298" y="1796608"/>
            <a:ext cx="177160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6" b="1" i="0">
                <a:solidFill>
                  <a:srgbClr val="4A0E25"/>
                </a:solidFill>
                <a:latin typeface="Playfair Display"/>
              </a:rPr>
              <a:t>Advocacy Gap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8775" y="2116580"/>
            <a:ext cx="435311" cy="561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855" b="1" i="0">
                <a:solidFill>
                  <a:srgbClr val="4A0E25"/>
                </a:solidFill>
                <a:latin typeface="Playfair Display"/>
              </a:rPr>
              <a:t>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0867" y="2665147"/>
            <a:ext cx="851126" cy="281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7" b="1" i="0">
                <a:solidFill>
                  <a:srgbClr val="4A0E25"/>
                </a:solidFill>
                <a:latin typeface="Aptos"/>
              </a:rPr>
              <a:t>Passenger</a:t>
            </a:r>
          </a:p>
          <a:p>
            <a:pPr algn="ctr"/>
            <a:r>
              <a:rPr sz="827" b="1" i="0">
                <a:solidFill>
                  <a:srgbClr val="4A0E25"/>
                </a:solidFill>
                <a:latin typeface="Aptos"/>
              </a:rPr>
              <a:t>Sentiment Index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7136" y="2116580"/>
            <a:ext cx="524159" cy="561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855" b="1" i="0">
                <a:solidFill>
                  <a:srgbClr val="4A0E25"/>
                </a:solidFill>
                <a:latin typeface="Playfair Display"/>
              </a:rPr>
              <a:t>71</a:t>
            </a:r>
            <a:r>
              <a:rPr sz="1529" b="1" i="0">
                <a:solidFill>
                  <a:srgbClr val="4A0E25"/>
                </a:solidFill>
                <a:latin typeface="Playfair Display"/>
              </a:rPr>
              <a:t>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4437" y="2665147"/>
            <a:ext cx="929557" cy="281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7" b="1" i="0">
                <a:solidFill>
                  <a:srgbClr val="4A0E25"/>
                </a:solidFill>
                <a:latin typeface="Aptos"/>
              </a:rPr>
              <a:t>Recommendation</a:t>
            </a:r>
          </a:p>
          <a:p>
            <a:pPr algn="ctr"/>
            <a:r>
              <a:rPr sz="827" b="1" i="0">
                <a:solidFill>
                  <a:srgbClr val="4A0E25"/>
                </a:solidFill>
                <a:latin typeface="Aptos"/>
              </a:rPr>
              <a:t>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41865" y="3278303"/>
            <a:ext cx="3485765" cy="323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70" b="1" i="0">
                <a:solidFill>
                  <a:srgbClr val="F7F3EC"/>
                </a:solidFill>
                <a:latin typeface="Aptos"/>
              </a:rPr>
              <a:t>Advocacy Gap:</a:t>
            </a:r>
            <a:r>
              <a:rPr sz="970" b="1" i="0">
                <a:solidFill>
                  <a:srgbClr val="D4B07A"/>
                </a:solidFill>
                <a:latin typeface="Aptos"/>
              </a:rPr>
              <a:t> 6 points</a:t>
            </a:r>
            <a:r>
              <a:rPr sz="970" b="1" i="0">
                <a:solidFill>
                  <a:srgbClr val="F7F3EC"/>
                </a:solidFill>
                <a:latin typeface="Aptos"/>
              </a:rPr>
              <a:t> — passengers recommend before they truly feel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64466" y="5628092"/>
            <a:ext cx="3746356" cy="502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4A0E25"/>
                </a:solidFill>
                <a:latin typeface="Aptos"/>
              </a:rPr>
              <a:t>Raw complaint tables understate scale:</a:t>
            </a:r>
            <a:r>
              <a:rPr sz="884" b="0" i="0">
                <a:solidFill>
                  <a:srgbClr val="2C1810"/>
                </a:solidFill>
                <a:latin typeface="Aptos"/>
              </a:rPr>
              <a:t> "rude staff", "dismissive crew", "unhelpful attendant" are</a:t>
            </a:r>
            <a:r>
              <a:rPr sz="904" b="1" i="0">
                <a:solidFill>
                  <a:srgbClr val="4A0E25"/>
                </a:solidFill>
                <a:latin typeface="Aptos"/>
              </a:rPr>
              <a:t> one product failure</a:t>
            </a:r>
            <a:r>
              <a:rPr sz="884" b="0" i="0">
                <a:solidFill>
                  <a:srgbClr val="2C1810"/>
                </a:solidFill>
                <a:latin typeface="Aptos"/>
              </a:rPr>
              <a:t> counted as three — semantic clustering corrects this.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472075"/>
            <a:ext cx="290877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3" b="0" i="0">
                <a:solidFill>
                  <a:srgbClr val="8A6945"/>
                </a:solidFill>
                <a:latin typeface="Aptos"/>
              </a:rPr>
              <a:t>Passenger Experience Analytics — Edwin Daniels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1351" y="6467313"/>
            <a:ext cx="37935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816D47"/>
                </a:solidFill>
                <a:latin typeface="Apto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64666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906041"/>
            <a:ext cx="4297114" cy="867965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1905" y="2067966"/>
            <a:ext cx="426690" cy="42669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70" y="2207865"/>
            <a:ext cx="167576" cy="1466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4800" y="2888307"/>
            <a:ext cx="4297114" cy="867965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1905" y="3050232"/>
            <a:ext cx="426690" cy="42669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70" y="3198252"/>
            <a:ext cx="167598" cy="1303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3870573"/>
            <a:ext cx="4297114" cy="867965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1905" y="4032498"/>
            <a:ext cx="426690" cy="426690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72" y="4172347"/>
            <a:ext cx="167556" cy="146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4800" y="4913709"/>
            <a:ext cx="648890" cy="453330"/>
          </a:xfrm>
          <a:prstGeom prst="roundRect">
            <a:avLst>
              <a:gd name="adj" fmla="val 42022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5071" y="4913709"/>
            <a:ext cx="864542" cy="453330"/>
          </a:xfrm>
          <a:prstGeom prst="roundRect">
            <a:avLst>
              <a:gd name="adj" fmla="val 42022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00994" y="4913709"/>
            <a:ext cx="769292" cy="453330"/>
          </a:xfrm>
          <a:prstGeom prst="roundRect">
            <a:avLst>
              <a:gd name="adj" fmla="val 42022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06565" y="1045815"/>
            <a:ext cx="7011144" cy="518160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25615" y="1064865"/>
            <a:ext cx="6973044" cy="319980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3068" y="1164783"/>
            <a:ext cx="137067" cy="11993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1367343" y="1181992"/>
            <a:ext cx="85725" cy="85725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506348" y="1181992"/>
            <a:ext cx="85725" cy="85725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45354" y="1181992"/>
            <a:ext cx="85725" cy="85725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25615" y="1384845"/>
            <a:ext cx="6973044" cy="258960"/>
          </a:xfrm>
          <a:prstGeom prst="rect">
            <a:avLst/>
          </a:prstGeom>
          <a:solidFill>
            <a:srgbClr val="2C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25615" y="1643806"/>
            <a:ext cx="6973044" cy="294977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3423" y="1697087"/>
            <a:ext cx="1003548" cy="178891"/>
          </a:xfrm>
          <a:prstGeom prst="roundRect">
            <a:avLst>
              <a:gd name="adj" fmla="val 212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009" y="1749174"/>
            <a:ext cx="83788" cy="7447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78351" y="1697087"/>
            <a:ext cx="702766" cy="178891"/>
          </a:xfrm>
          <a:prstGeom prst="roundRect">
            <a:avLst>
              <a:gd name="adj" fmla="val 212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3910" y="1744519"/>
            <a:ext cx="83788" cy="8378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372498" y="1697087"/>
            <a:ext cx="1151185" cy="178891"/>
          </a:xfrm>
          <a:prstGeom prst="roundRect">
            <a:avLst>
              <a:gd name="adj" fmla="val 212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3274" y="1744519"/>
            <a:ext cx="73314" cy="8378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925615" y="1938783"/>
            <a:ext cx="2190452" cy="4008834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39915" y="2235844"/>
            <a:ext cx="1952327" cy="66288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39915" y="2974925"/>
            <a:ext cx="1952327" cy="66288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39915" y="3714005"/>
            <a:ext cx="1952327" cy="66288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39915" y="4453086"/>
            <a:ext cx="1952327" cy="66288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253138" y="2245369"/>
            <a:ext cx="4508450" cy="1191964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10363" y="2521446"/>
            <a:ext cx="334640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910363" y="2521446"/>
            <a:ext cx="2677120" cy="95250"/>
          </a:xfrm>
          <a:prstGeom prst="roundRect">
            <a:avLst>
              <a:gd name="adj" fmla="val 3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910363" y="2677566"/>
            <a:ext cx="334640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910363" y="2677566"/>
            <a:ext cx="2543175" cy="95250"/>
          </a:xfrm>
          <a:prstGeom prst="roundRect">
            <a:avLst>
              <a:gd name="adj" fmla="val 3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10363" y="2881312"/>
            <a:ext cx="334640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10363" y="2881312"/>
            <a:ext cx="2342405" cy="95250"/>
          </a:xfrm>
          <a:prstGeom prst="roundRect">
            <a:avLst>
              <a:gd name="adj" fmla="val 3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910363" y="3085058"/>
            <a:ext cx="334640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10363" y="3085058"/>
            <a:ext cx="2208609" cy="95250"/>
          </a:xfrm>
          <a:prstGeom prst="roundRect">
            <a:avLst>
              <a:gd name="adj" fmla="val 3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910363" y="3241178"/>
            <a:ext cx="334640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910363" y="3241178"/>
            <a:ext cx="1539329" cy="95250"/>
          </a:xfrm>
          <a:prstGeom prst="roundRect">
            <a:avLst>
              <a:gd name="adj" fmla="val 3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253138" y="3521124"/>
            <a:ext cx="2212330" cy="940593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6779" y="3823596"/>
            <a:ext cx="419089" cy="419089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7872263" y="3811488"/>
            <a:ext cx="66675" cy="66675"/>
          </a:xfrm>
          <a:prstGeom prst="ellipse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872263" y="3937099"/>
            <a:ext cx="66675" cy="66675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72263" y="4062710"/>
            <a:ext cx="66675" cy="66675"/>
          </a:xfrm>
          <a:prstGeom prst="ellipse">
            <a:avLst/>
          </a:prstGeom>
          <a:solidFill>
            <a:srgbClr val="8B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872263" y="4188321"/>
            <a:ext cx="66675" cy="66675"/>
          </a:xfrm>
          <a:prstGeom prst="ellipse">
            <a:avLst/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549258" y="3521124"/>
            <a:ext cx="2212330" cy="940593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206483" y="3797200"/>
            <a:ext cx="105028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206483" y="3797200"/>
            <a:ext cx="756195" cy="95250"/>
          </a:xfrm>
          <a:prstGeom prst="roundRect">
            <a:avLst>
              <a:gd name="adj" fmla="val 3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206483" y="3953321"/>
            <a:ext cx="105028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206483" y="3953321"/>
            <a:ext cx="609153" cy="95250"/>
          </a:xfrm>
          <a:prstGeom prst="roundRect">
            <a:avLst>
              <a:gd name="adj" fmla="val 3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206483" y="4109442"/>
            <a:ext cx="105028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206483" y="4109442"/>
            <a:ext cx="462111" cy="95250"/>
          </a:xfrm>
          <a:prstGeom prst="roundRect">
            <a:avLst>
              <a:gd name="adj" fmla="val 3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206483" y="4265562"/>
            <a:ext cx="1050280" cy="95250"/>
          </a:xfrm>
          <a:prstGeom prst="roundRect">
            <a:avLst>
              <a:gd name="adj" fmla="val 30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206483" y="4265562"/>
            <a:ext cx="336053" cy="95250"/>
          </a:xfrm>
          <a:prstGeom prst="roundRect">
            <a:avLst>
              <a:gd name="adj" fmla="val 3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925615" y="5947618"/>
            <a:ext cx="6973044" cy="260746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6608564"/>
            <a:ext cx="12192000" cy="249435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5152" y="137067"/>
            <a:ext cx="2744768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37" b="1" i="0">
                <a:solidFill>
                  <a:srgbClr val="F7F3EC"/>
                </a:solidFill>
                <a:latin typeface="Playfair Display"/>
              </a:rPr>
              <a:t>Power BI Dashboard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735" y="205645"/>
            <a:ext cx="3662895" cy="253358"/>
          </a:xfrm>
          <a:prstGeom prst="rect">
            <a:avLst/>
          </a:prstGeom>
          <a:solidFill>
            <a:srgbClr val="C9A96E"/>
          </a:solidFill>
        </p:spPr>
        <p:txBody>
          <a:bodyPr wrap="none" lIns="137156" tIns="45718" rIns="137156" bIns="45718">
            <a:spAutoFit/>
          </a:bodyPr>
          <a:lstStyle/>
          <a:p>
            <a:pPr algn="l"/>
            <a:r>
              <a:rPr sz="937" b="1" i="0">
                <a:solidFill>
                  <a:srgbClr val="2C0F1A"/>
                </a:solidFill>
                <a:latin typeface="Aptos"/>
              </a:rPr>
              <a:t>Product Manager Dashboard — Not a Data Science Report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640" y="2067915"/>
            <a:ext cx="114460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A0E25"/>
                </a:solidFill>
                <a:latin typeface="Playfair Display"/>
              </a:rPr>
              <a:t>5 Interactive Pages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5640" y="2279245"/>
            <a:ext cx="3279643" cy="3187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2C1810"/>
                </a:solidFill>
                <a:latin typeface="Aptos"/>
              </a:rPr>
              <a:t>The Big Picture · Passenger Experience · Product Analysis · Route &amp; Geographic Intelligence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5640" y="3050156"/>
            <a:ext cx="141636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A0E25"/>
                </a:solidFill>
                <a:latin typeface="Playfair Display"/>
              </a:rPr>
              <a:t>Custom DAX Measures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5640" y="3261486"/>
            <a:ext cx="3117275" cy="3187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1" i="0">
                <a:solidFill>
                  <a:srgbClr val="4A0E25"/>
                </a:solidFill>
                <a:latin typeface="Aptos"/>
              </a:rPr>
              <a:t>PSI · Advocacy Gap · YoY Rating Change</a:t>
            </a:r>
            <a:r>
              <a:rPr sz="841" b="0" i="0">
                <a:solidFill>
                  <a:srgbClr val="2C1810"/>
                </a:solidFill>
                <a:latin typeface="Aptos"/>
              </a:rPr>
              <a:t> · Recommendation Propensity — built on the NLP pipeline 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5640" y="4032397"/>
            <a:ext cx="161846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4A0E25"/>
                </a:solidFill>
                <a:latin typeface="Playfair Display"/>
              </a:rPr>
              <a:t>Real-Time Route Filtering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5640" y="4243727"/>
            <a:ext cx="2839271" cy="3187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2C1810"/>
                </a:solidFill>
                <a:latin typeface="Aptos"/>
              </a:rPr>
              <a:t>Filter by cabin class, route, aircraft type &amp; time period — commercial risk identification at a glance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684" y="4968800"/>
            <a:ext cx="91440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1" b="1" i="0">
                <a:solidFill>
                  <a:srgbClr val="4A0E25"/>
                </a:solidFill>
                <a:latin typeface="Playfair Display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614" y="5187869"/>
            <a:ext cx="40123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6" b="1" i="0">
                <a:solidFill>
                  <a:srgbClr val="8B6A45"/>
                </a:solidFill>
                <a:latin typeface="Aptos"/>
              </a:rPr>
              <a:t>DB Pages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33030" y="4968800"/>
            <a:ext cx="91440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1" b="1" i="0">
                <a:solidFill>
                  <a:srgbClr val="4A0E25"/>
                </a:solidFill>
                <a:latin typeface="Playfair Display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68866" y="5187869"/>
            <a:ext cx="61687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6" b="1" i="0">
                <a:solidFill>
                  <a:srgbClr val="8B6A45"/>
                </a:solidFill>
                <a:latin typeface="Aptos"/>
              </a:rPr>
              <a:t>DAX Measures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20162" y="4968800"/>
            <a:ext cx="330836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1" b="1" i="0">
                <a:solidFill>
                  <a:srgbClr val="4A0E25"/>
                </a:solidFill>
                <a:latin typeface="Playfair Display"/>
              </a:rPr>
              <a:t>NLP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24765" y="5187869"/>
            <a:ext cx="52162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6" b="1" i="0">
                <a:solidFill>
                  <a:srgbClr val="8B6A45"/>
                </a:solidFill>
                <a:latin typeface="Aptos"/>
              </a:rPr>
              <a:t>Pipeline Fed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21514" y="1148626"/>
            <a:ext cx="233773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 i="0">
                <a:solidFill>
                  <a:srgbClr val="F7F3EC"/>
                </a:solidFill>
                <a:latin typeface="Aptos"/>
              </a:rPr>
              <a:t>Passenger Experience Analytics — Power BI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77799" y="1384751"/>
            <a:ext cx="989116" cy="240023"/>
          </a:xfrm>
          <a:prstGeom prst="rect">
            <a:avLst/>
          </a:prstGeom>
          <a:noFill/>
        </p:spPr>
        <p:txBody>
          <a:bodyPr wrap="none" lIns="137156" tIns="53338" rIns="137156" bIns="53338">
            <a:spAutoFit/>
          </a:bodyPr>
          <a:lstStyle/>
          <a:p>
            <a:pPr algn="l"/>
            <a:r>
              <a:rPr sz="771" b="1" i="0">
                <a:solidFill>
                  <a:srgbClr val="F7F3EC"/>
                </a:solidFill>
                <a:latin typeface="Aptos"/>
              </a:rPr>
              <a:t>The Big Picture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66737" y="1384751"/>
            <a:ext cx="1279621" cy="240023"/>
          </a:xfrm>
          <a:prstGeom prst="rect">
            <a:avLst/>
          </a:prstGeom>
          <a:noFill/>
        </p:spPr>
        <p:txBody>
          <a:bodyPr wrap="none" lIns="137156" tIns="53338" rIns="137156" bIns="53338">
            <a:spAutoFit/>
          </a:bodyPr>
          <a:lstStyle/>
          <a:p>
            <a:pPr algn="l"/>
            <a:r>
              <a:rPr sz="755" b="0" i="0">
                <a:solidFill>
                  <a:srgbClr val="D4B07A"/>
                </a:solidFill>
                <a:latin typeface="Aptos"/>
              </a:rPr>
              <a:t>Passenger Experience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46180" y="1384751"/>
            <a:ext cx="1042098" cy="240023"/>
          </a:xfrm>
          <a:prstGeom prst="rect">
            <a:avLst/>
          </a:prstGeom>
          <a:noFill/>
        </p:spPr>
        <p:txBody>
          <a:bodyPr wrap="none" lIns="137156" tIns="53338" rIns="137156" bIns="53338">
            <a:spAutoFit/>
          </a:bodyPr>
          <a:lstStyle/>
          <a:p>
            <a:pPr algn="l"/>
            <a:r>
              <a:rPr sz="755" b="0" i="0">
                <a:solidFill>
                  <a:srgbClr val="D4B07A"/>
                </a:solidFill>
                <a:latin typeface="Aptos"/>
              </a:rPr>
              <a:t>Product Analysis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88100" y="1384751"/>
            <a:ext cx="1404634" cy="240023"/>
          </a:xfrm>
          <a:prstGeom prst="rect">
            <a:avLst/>
          </a:prstGeom>
          <a:noFill/>
        </p:spPr>
        <p:txBody>
          <a:bodyPr wrap="none" lIns="137156" tIns="53338" rIns="137156" bIns="53338">
            <a:spAutoFit/>
          </a:bodyPr>
          <a:lstStyle/>
          <a:p>
            <a:pPr algn="l"/>
            <a:r>
              <a:rPr sz="755" b="0" i="0">
                <a:solidFill>
                  <a:srgbClr val="D4B07A"/>
                </a:solidFill>
                <a:latin typeface="Aptos"/>
              </a:rPr>
              <a:t>Route &amp; Geo Intelligence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77888" y="1724577"/>
            <a:ext cx="31401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6" b="1" i="0">
                <a:solidFill>
                  <a:srgbClr val="8B6A45"/>
                </a:solidFill>
                <a:latin typeface="Aptos"/>
              </a:rPr>
              <a:t>Filters: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90896" y="1729339"/>
            <a:ext cx="710190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1" i="0">
                <a:solidFill>
                  <a:srgbClr val="4A0E25"/>
                </a:solidFill>
                <a:latin typeface="Aptos"/>
              </a:rPr>
              <a:t>All Cabin Classes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5797" y="1729339"/>
            <a:ext cx="40941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1" i="0">
                <a:solidFill>
                  <a:srgbClr val="4A0E25"/>
                </a:solidFill>
                <a:latin typeface="Aptos"/>
              </a:rPr>
              <a:t>All Routes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79924" y="1729339"/>
            <a:ext cx="857823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1" i="0">
                <a:solidFill>
                  <a:srgbClr val="4A0E25"/>
                </a:solidFill>
                <a:latin typeface="Aptos"/>
              </a:rPr>
              <a:t>May 2016 – May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39789" y="2045293"/>
            <a:ext cx="618067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1" i="0">
                <a:solidFill>
                  <a:srgbClr val="8A6945"/>
                </a:solidFill>
                <a:latin typeface="Aptos"/>
              </a:rPr>
              <a:t>Key Metrics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48282" y="2321511"/>
            <a:ext cx="728793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0" i="0">
                <a:solidFill>
                  <a:srgbClr val="8B6A45"/>
                </a:solidFill>
                <a:latin typeface="Aptos"/>
              </a:rPr>
              <a:t>Overall Rating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48282" y="2443399"/>
            <a:ext cx="235886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3" b="1" i="0">
                <a:solidFill>
                  <a:srgbClr val="4A0E25"/>
                </a:solidFill>
                <a:latin typeface="Playfair Display"/>
              </a:rPr>
              <a:t>5.8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48282" y="2698632"/>
            <a:ext cx="927176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9" b="1" i="0">
                <a:solidFill>
                  <a:srgbClr val="9B2335"/>
                </a:solidFill>
                <a:latin typeface="Aptos"/>
              </a:rPr>
              <a:t>▼ 2.4pt from 2021 peak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48282" y="3060573"/>
            <a:ext cx="45927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0" i="0">
                <a:solidFill>
                  <a:srgbClr val="8B6A45"/>
                </a:solidFill>
                <a:latin typeface="Aptos"/>
              </a:rPr>
              <a:t>PSI Score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8282" y="3182461"/>
            <a:ext cx="186476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3" b="1" i="0">
                <a:solidFill>
                  <a:srgbClr val="4A0E25"/>
                </a:solidFill>
                <a:latin typeface="Playfair Display"/>
              </a:rPr>
              <a:t>65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8282" y="3437694"/>
            <a:ext cx="78921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9" b="1" i="0">
                <a:solidFill>
                  <a:srgbClr val="9B2335"/>
                </a:solidFill>
                <a:latin typeface="Aptos"/>
              </a:rPr>
              <a:t>Advocacy Gap: 6pts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48282" y="3799635"/>
            <a:ext cx="434418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0" i="0">
                <a:solidFill>
                  <a:srgbClr val="8B6A45"/>
                </a:solidFill>
                <a:latin typeface="Aptos"/>
              </a:rPr>
              <a:t>Rec. Rate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8282" y="3921522"/>
            <a:ext cx="286338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3" b="1" i="0">
                <a:solidFill>
                  <a:srgbClr val="4A0E25"/>
                </a:solidFill>
                <a:latin typeface="Playfair Display"/>
              </a:rPr>
              <a:t>71%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48282" y="4176756"/>
            <a:ext cx="486060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9" b="1" i="0">
                <a:solidFill>
                  <a:srgbClr val="2D6A4F"/>
                </a:solidFill>
                <a:latin typeface="Aptos"/>
              </a:rPr>
              <a:t>▲ above PSI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48282" y="4538697"/>
            <a:ext cx="38575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0" i="0">
                <a:solidFill>
                  <a:srgbClr val="8B6A45"/>
                </a:solidFill>
                <a:latin typeface="Aptos"/>
              </a:rPr>
              <a:t>Reviews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48282" y="4660584"/>
            <a:ext cx="386199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3" b="1" i="0">
                <a:solidFill>
                  <a:srgbClr val="4A0E25"/>
                </a:solidFill>
                <a:latin typeface="Playfair Display"/>
              </a:rPr>
              <a:t>1,957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48282" y="4915818"/>
            <a:ext cx="51195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9" b="1" i="0">
                <a:solidFill>
                  <a:srgbClr val="9B2335"/>
                </a:solidFill>
                <a:latin typeface="Aptos"/>
              </a:rPr>
              <a:t>10-year span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52957" y="2037703"/>
            <a:ext cx="188411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Category Score Breakdown — All Cabins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76779" y="2346216"/>
            <a:ext cx="164376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1" b="1" i="0">
                <a:solidFill>
                  <a:srgbClr val="8B6A45"/>
                </a:solidFill>
                <a:latin typeface="Aptos"/>
              </a:rPr>
              <a:t>Avg Score by Product Category (out of 5)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76779" y="2521383"/>
            <a:ext cx="47102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Value/Money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332680" y="2521383"/>
            <a:ext cx="11474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4.0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31546" y="2677499"/>
            <a:ext cx="402421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Food &amp; Bev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332680" y="2677499"/>
            <a:ext cx="11474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3.8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32598" y="2833616"/>
            <a:ext cx="301369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Seat Comfort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332680" y="2881240"/>
            <a:ext cx="11474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3.5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31992" y="3084981"/>
            <a:ext cx="401974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Cabin Staff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332680" y="3084981"/>
            <a:ext cx="11474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3.3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47937" y="3241097"/>
            <a:ext cx="186030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Wi-Fi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2680" y="3241097"/>
            <a:ext cx="11474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2.3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76779" y="3621939"/>
            <a:ext cx="106900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1" b="1" i="0">
                <a:solidFill>
                  <a:srgbClr val="8B6A45"/>
                </a:solidFill>
                <a:latin typeface="Aptos"/>
              </a:rPr>
              <a:t>Sentiment by Cabin Class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84429" y="3797105"/>
            <a:ext cx="50391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3" b="0" i="0">
                <a:solidFill>
                  <a:srgbClr val="4A0E25"/>
                </a:solidFill>
                <a:latin typeface="Aptos"/>
              </a:rPr>
              <a:t>Business 50%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84429" y="3922713"/>
            <a:ext cx="51403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3" b="0" i="0">
                <a:solidFill>
                  <a:srgbClr val="4A0E25"/>
                </a:solidFill>
                <a:latin typeface="Aptos"/>
              </a:rPr>
              <a:t>Economy 26%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84429" y="4048321"/>
            <a:ext cx="657952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3" b="0" i="0">
                <a:solidFill>
                  <a:srgbClr val="4A0E25"/>
                </a:solidFill>
                <a:latin typeface="Aptos"/>
              </a:rPr>
              <a:t>Premium Eco 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84429" y="4173929"/>
            <a:ext cx="33306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93" b="0" i="0">
                <a:solidFill>
                  <a:srgbClr val="4A0E25"/>
                </a:solidFill>
                <a:latin typeface="Aptos"/>
              </a:rPr>
              <a:t>First 10%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72841" y="3621939"/>
            <a:ext cx="1594951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1" b="1" i="0">
                <a:solidFill>
                  <a:srgbClr val="8B6A45"/>
                </a:solidFill>
                <a:latin typeface="Aptos"/>
              </a:rPr>
              <a:t>NLP Theme Heatmap (Top Complaints)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60817" y="3797105"/>
            <a:ext cx="169213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Staff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2680" y="3797105"/>
            <a:ext cx="175017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High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83726" y="3953222"/>
            <a:ext cx="246304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Delays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332680" y="3953222"/>
            <a:ext cx="16459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Med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44000" y="4109339"/>
            <a:ext cx="186030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Wi-Fi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332680" y="4109339"/>
            <a:ext cx="16459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Med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912598" y="4265456"/>
            <a:ext cx="217432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593" b="0" i="0">
                <a:solidFill>
                  <a:srgbClr val="4A0E25"/>
                </a:solidFill>
                <a:latin typeface="Aptos"/>
              </a:rPr>
              <a:t>Meals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332680" y="4265456"/>
            <a:ext cx="154479" cy="952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6" b="1" i="0">
                <a:solidFill>
                  <a:srgbClr val="4A0E25"/>
                </a:solidFill>
                <a:latin typeface="Aptos"/>
              </a:rPr>
              <a:t>Low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77888" y="6025453"/>
            <a:ext cx="2874989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0" i="0">
                <a:solidFill>
                  <a:srgbClr val="8B6A45"/>
                </a:solidFill>
                <a:latin typeface="Aptos"/>
              </a:rPr>
              <a:t>Passenger Experience Analytics · Powered by NLP Pipeline · 1,957 reviews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11111" y="6002594"/>
            <a:ext cx="334854" cy="160015"/>
          </a:xfrm>
          <a:prstGeom prst="rect">
            <a:avLst/>
          </a:prstGeom>
          <a:solidFill>
            <a:srgbClr val="4A0E25"/>
          </a:solidFill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661" b="1" i="0">
                <a:solidFill>
                  <a:srgbClr val="F7F3EC"/>
                </a:solidFill>
                <a:latin typeface="Aptos"/>
              </a:rPr>
              <a:t>LIVE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4792" y="6671202"/>
            <a:ext cx="23317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A6945"/>
                </a:solidFill>
                <a:latin typeface="Aptos"/>
              </a:rPr>
              <a:t>Passenger Experience Analytics · Edwin Daniels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764717" y="6671202"/>
            <a:ext cx="12218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816D4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15438" y="304800"/>
            <a:ext cx="1410890" cy="258960"/>
          </a:xfrm>
          <a:prstGeom prst="roundRect">
            <a:avLst>
              <a:gd name="adj" fmla="val 5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2245" y="369530"/>
            <a:ext cx="129477" cy="1294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661" y="1057828"/>
            <a:ext cx="121887" cy="975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1049" y="1045640"/>
            <a:ext cx="121887" cy="121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8658" y="1045640"/>
            <a:ext cx="106651" cy="121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0328" y="1053258"/>
            <a:ext cx="121887" cy="106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670" y="1259085"/>
            <a:ext cx="4857898" cy="4802534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 w="25400">
            <a:solidFill>
              <a:srgbClr val="DE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7481" y="1941760"/>
            <a:ext cx="4454276" cy="9525"/>
          </a:xfrm>
          <a:prstGeom prst="rect">
            <a:avLst/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91150" y="2448371"/>
            <a:ext cx="1409700" cy="539353"/>
          </a:xfrm>
          <a:prstGeom prst="roundRect">
            <a:avLst>
              <a:gd name="adj" fmla="val 1766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91150" y="3094285"/>
            <a:ext cx="1409700" cy="539353"/>
          </a:xfrm>
          <a:prstGeom prst="roundRect">
            <a:avLst>
              <a:gd name="adj" fmla="val 1766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1150" y="3740199"/>
            <a:ext cx="1409700" cy="539353"/>
          </a:xfrm>
          <a:prstGeom prst="roundRect">
            <a:avLst>
              <a:gd name="adj" fmla="val 17660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91150" y="4386113"/>
            <a:ext cx="1409700" cy="486072"/>
          </a:xfrm>
          <a:prstGeom prst="roundRect">
            <a:avLst>
              <a:gd name="adj" fmla="val 19595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68430" y="1259085"/>
            <a:ext cx="4857898" cy="4802534"/>
          </a:xfrm>
          <a:prstGeom prst="roundRect">
            <a:avLst>
              <a:gd name="adj" fmla="val 1983"/>
            </a:avLst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70241" y="1941760"/>
            <a:ext cx="4454276" cy="9525"/>
          </a:xfrm>
          <a:prstGeom prst="rect">
            <a:avLst/>
          </a:prstGeom>
          <a:solidFill>
            <a:srgbClr val="C9A96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661" y="266693"/>
            <a:ext cx="4376330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39" b="1" i="0">
                <a:solidFill>
                  <a:srgbClr val="4A0E25"/>
                </a:solidFill>
                <a:latin typeface="Playfair Display"/>
              </a:rPr>
              <a:t>A/B Test: Elevated Meal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661" y="693372"/>
            <a:ext cx="387226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8" b="1" i="0">
                <a:solidFill>
                  <a:srgbClr val="4A0E25"/>
                </a:solidFill>
                <a:latin typeface="Aptos"/>
              </a:rPr>
              <a:t>The intervention works. Roll out with high confidence.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2591" y="358071"/>
            <a:ext cx="94637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High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827" y="1030460"/>
            <a:ext cx="109162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2" b="1" i="0">
                <a:solidFill>
                  <a:srgbClr val="4A0E25"/>
                </a:solidFill>
                <a:latin typeface="Aptos"/>
              </a:rPr>
              <a:t>n=6,000 passengers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6215" y="1030460"/>
            <a:ext cx="99623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2" b="1" i="0">
                <a:solidFill>
                  <a:srgbClr val="4A0E25"/>
                </a:solidFill>
                <a:latin typeface="Aptos"/>
              </a:rPr>
              <a:t>4 long-haul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6206" y="1030460"/>
            <a:ext cx="51552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2" b="1" i="0">
                <a:solidFill>
                  <a:srgbClr val="4A0E25"/>
                </a:solidFill>
                <a:latin typeface="Aptos"/>
              </a:rPr>
              <a:t>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5494" y="1030460"/>
            <a:ext cx="145341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2" b="1" i="0">
                <a:solidFill>
                  <a:srgbClr val="4A0E25"/>
                </a:solidFill>
                <a:latin typeface="Aptos"/>
              </a:rPr>
              <a:t>p&lt;0.001</a:t>
            </a:r>
            <a:r>
              <a:rPr sz="863" b="0" i="0">
                <a:solidFill>
                  <a:srgbClr val="8A6945"/>
                </a:solidFill>
                <a:latin typeface="Aptos"/>
              </a:rPr>
              <a:t> · Cohen's d = 0.609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467" y="1430500"/>
            <a:ext cx="106052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B6A45"/>
                </a:solidFill>
                <a:latin typeface="Aptos"/>
              </a:rPr>
              <a:t>Control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67" y="1628585"/>
            <a:ext cx="1961654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2" b="1" i="0">
                <a:solidFill>
                  <a:srgbClr val="2C1810"/>
                </a:solidFill>
                <a:latin typeface="Playfair Display"/>
              </a:rPr>
              <a:t>Standard Economy Meal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467" y="2035024"/>
            <a:ext cx="126247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B6A45"/>
                </a:solidFill>
                <a:latin typeface="Aptos"/>
              </a:rPr>
              <a:t>Satisfaction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467" y="2175961"/>
            <a:ext cx="553031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4A0E25"/>
                </a:solidFill>
                <a:latin typeface="Playfair Display"/>
              </a:rPr>
              <a:t>3.607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467" y="2488343"/>
            <a:ext cx="48293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B6A45"/>
                </a:solidFill>
                <a:latin typeface="Aptos"/>
              </a:rPr>
              <a:t>Out of 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467" y="2705478"/>
            <a:ext cx="100277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B6A45"/>
                </a:solidFill>
                <a:latin typeface="Aptos"/>
              </a:rPr>
              <a:t>Complaint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467" y="2846415"/>
            <a:ext cx="503919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4A0E25"/>
                </a:solidFill>
                <a:latin typeface="Playfair Display"/>
              </a:rPr>
              <a:t>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467" y="3158797"/>
            <a:ext cx="120741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B6A45"/>
                </a:solidFill>
                <a:latin typeface="Aptos"/>
              </a:rPr>
              <a:t>Meal-related complaints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467" y="3375932"/>
            <a:ext cx="71748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B6A45"/>
                </a:solidFill>
                <a:latin typeface="Aptos"/>
              </a:rPr>
              <a:t>Finish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467" y="3516869"/>
            <a:ext cx="891606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4A0E25"/>
                </a:solidFill>
                <a:latin typeface="Playfair Display"/>
              </a:rPr>
              <a:t>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467" y="3829251"/>
            <a:ext cx="80841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B6A45"/>
                </a:solidFill>
                <a:latin typeface="Aptos"/>
              </a:rPr>
              <a:t>Reference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467" y="4046386"/>
            <a:ext cx="86526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B6A45"/>
                </a:solidFill>
                <a:latin typeface="Aptos"/>
              </a:rPr>
              <a:t>Economy 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467" y="4187323"/>
            <a:ext cx="204633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4A0E25"/>
                </a:solidFill>
                <a:latin typeface="Playfair Display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467" y="4499705"/>
            <a:ext cx="115145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B6A45"/>
                </a:solidFill>
                <a:latin typeface="Aptos"/>
              </a:rPr>
              <a:t>No intervention applied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1525" y="2503524"/>
            <a:ext cx="728644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76" b="1" i="0">
                <a:solidFill>
                  <a:srgbClr val="2D6A4F"/>
                </a:solidFill>
                <a:latin typeface="Playfair Display"/>
              </a:rPr>
              <a:t>+0.30pt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4679" y="2770068"/>
            <a:ext cx="74218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49" b="1" i="0">
                <a:solidFill>
                  <a:srgbClr val="4A0E25"/>
                </a:solidFill>
                <a:latin typeface="Aptos"/>
              </a:rPr>
              <a:t>Satisfaction Lift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9394" y="3149421"/>
            <a:ext cx="492906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76" b="1" i="0">
                <a:solidFill>
                  <a:srgbClr val="2D6A4F"/>
                </a:solidFill>
                <a:latin typeface="Playfair Display"/>
              </a:rPr>
              <a:t>−46%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1601" y="3415966"/>
            <a:ext cx="98834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49" b="1" i="0">
                <a:solidFill>
                  <a:srgbClr val="4A0E25"/>
                </a:solidFill>
                <a:latin typeface="Aptos"/>
              </a:rPr>
              <a:t>Complaint Rate Drop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7574" y="3795319"/>
            <a:ext cx="576396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76" b="1" i="0">
                <a:solidFill>
                  <a:srgbClr val="2D6A4F"/>
                </a:solidFill>
                <a:latin typeface="Playfair Display"/>
              </a:rPr>
              <a:t>+10pp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4708" y="4061864"/>
            <a:ext cx="76212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49" b="1" i="0">
                <a:solidFill>
                  <a:srgbClr val="4A0E25"/>
                </a:solidFill>
                <a:latin typeface="Aptos"/>
              </a:rPr>
              <a:t>Finish Rate Gain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9326" y="4450742"/>
            <a:ext cx="65289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Economy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5240" y="4654483"/>
            <a:ext cx="82121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49" b="1" i="0">
                <a:solidFill>
                  <a:srgbClr val="4A0E25"/>
                </a:solidFill>
                <a:latin typeface="Aptos"/>
              </a:rPr>
              <a:t>Largest Lift Cabin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0062" y="1430500"/>
            <a:ext cx="118330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C9A96E"/>
                </a:solidFill>
                <a:latin typeface="Aptos"/>
              </a:rPr>
              <a:t>Treatment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0062" y="1628585"/>
            <a:ext cx="1901827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2" b="1" i="0">
                <a:solidFill>
                  <a:srgbClr val="F7F3EC"/>
                </a:solidFill>
                <a:latin typeface="Playfair Display"/>
              </a:rPr>
              <a:t>Elevated Economy Meal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0062" y="2035024"/>
            <a:ext cx="126247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C9A96E"/>
                </a:solidFill>
                <a:latin typeface="Aptos"/>
              </a:rPr>
              <a:t>Satisfaction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0062" y="2175961"/>
            <a:ext cx="573569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F7F3EC"/>
                </a:solidFill>
                <a:latin typeface="Playfair Display"/>
              </a:rPr>
              <a:t>3.906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0062" y="2488343"/>
            <a:ext cx="48293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D4B07A"/>
                </a:solidFill>
                <a:latin typeface="Aptos"/>
              </a:rPr>
              <a:t>Out of 5.0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0062" y="2705478"/>
            <a:ext cx="100277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C9A96E"/>
                </a:solidFill>
                <a:latin typeface="Aptos"/>
              </a:rPr>
              <a:t>Complaint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0062" y="2846415"/>
            <a:ext cx="453170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F7F3EC"/>
                </a:solidFill>
                <a:latin typeface="Playfair Display"/>
              </a:rPr>
              <a:t>4.3%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0062" y="3158797"/>
            <a:ext cx="120741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D4B07A"/>
                </a:solidFill>
                <a:latin typeface="Aptos"/>
              </a:rPr>
              <a:t>Meal-related complaints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0062" y="3375932"/>
            <a:ext cx="71748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C9A96E"/>
                </a:solidFill>
                <a:latin typeface="Aptos"/>
              </a:rPr>
              <a:t>Finish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0062" y="3516869"/>
            <a:ext cx="640540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F7F3EC"/>
                </a:solidFill>
                <a:latin typeface="Playfair Display"/>
              </a:rPr>
              <a:t>+10pp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0062" y="3829251"/>
            <a:ext cx="8189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D4B07A"/>
                </a:solidFill>
                <a:latin typeface="Aptos"/>
              </a:rPr>
              <a:t>vs. control group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0062" y="4046386"/>
            <a:ext cx="86526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C9A96E"/>
                </a:solidFill>
                <a:latin typeface="Aptos"/>
              </a:rPr>
              <a:t>Economy Lift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0062" y="4187323"/>
            <a:ext cx="78891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F7F3EC"/>
                </a:solidFill>
                <a:latin typeface="Playfair Display"/>
              </a:rPr>
              <a:t>Largest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0062" y="4499705"/>
            <a:ext cx="158334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D4B07A"/>
                </a:solidFill>
                <a:latin typeface="Aptos"/>
              </a:rPr>
              <a:t>First Class at satisfaction ceiling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661" y="6195857"/>
            <a:ext cx="90991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1" i="0">
                <a:solidFill>
                  <a:srgbClr val="8A6945"/>
                </a:solidFill>
                <a:latin typeface="Aptos"/>
              </a:rPr>
              <a:t>Tests Applied: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99157" y="6162330"/>
            <a:ext cx="467784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t-test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46682" y="6162330"/>
            <a:ext cx="1022006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Mann-Whitney 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48429" y="6162330"/>
            <a:ext cx="814099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Chi-squared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42269" y="6162330"/>
            <a:ext cx="843417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Shapiro-Wilk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65426" y="6162330"/>
            <a:ext cx="1062635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Cohen's d = 0.609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07802" y="6162330"/>
            <a:ext cx="849072" cy="200400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3527" rIns="99057" bIns="33527">
            <a:spAutoFit/>
          </a:bodyPr>
          <a:lstStyle/>
          <a:p>
            <a:pPr algn="l"/>
            <a:r>
              <a:rPr sz="793" b="1" i="0">
                <a:solidFill>
                  <a:srgbClr val="4A0E25"/>
                </a:solidFill>
                <a:latin typeface="Aptos"/>
              </a:rPr>
              <a:t>95% CI on lift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661" y="6511216"/>
            <a:ext cx="265502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A6945"/>
                </a:solidFill>
                <a:latin typeface="Aptos"/>
              </a:rPr>
              <a:t>Passenger Experience Analytics · Edwin Daniels ·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703848" y="6511216"/>
            <a:ext cx="12218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7" b="1" i="0">
                <a:solidFill>
                  <a:srgbClr val="816D4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1999" y="0"/>
            <a:ext cx="3810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038522"/>
            <a:ext cx="533400" cy="28575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434554"/>
            <a:ext cx="4800600" cy="761702"/>
          </a:xfrm>
          <a:prstGeom prst="roundRect">
            <a:avLst>
              <a:gd name="adj" fmla="val 12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1817191"/>
            <a:ext cx="4476750" cy="57150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1817191"/>
            <a:ext cx="4423023" cy="57150"/>
          </a:xfrm>
          <a:prstGeom prst="roundRect">
            <a:avLst>
              <a:gd name="adj" fmla="val 5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2280046"/>
            <a:ext cx="4800600" cy="761702"/>
          </a:xfrm>
          <a:prstGeom prst="roundRect">
            <a:avLst>
              <a:gd name="adj" fmla="val 12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2925" y="2662683"/>
            <a:ext cx="4476750" cy="57150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2925" y="2662683"/>
            <a:ext cx="4409479" cy="5715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1000" y="3125539"/>
            <a:ext cx="4800600" cy="761702"/>
          </a:xfrm>
          <a:prstGeom prst="roundRect">
            <a:avLst>
              <a:gd name="adj" fmla="val 12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2925" y="3508176"/>
            <a:ext cx="4476750" cy="57150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2925" y="3508176"/>
            <a:ext cx="4405014" cy="5715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1000" y="4001392"/>
            <a:ext cx="2345084" cy="544710"/>
          </a:xfrm>
          <a:prstGeom prst="roundRect">
            <a:avLst>
              <a:gd name="adj" fmla="val 13989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17465" y="4001392"/>
            <a:ext cx="2364134" cy="544710"/>
          </a:xfrm>
          <a:prstGeom prst="roundRect">
            <a:avLst>
              <a:gd name="adj" fmla="val 13989"/>
            </a:avLst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8133" y="4097176"/>
            <a:ext cx="162449" cy="1624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0" y="1419225"/>
            <a:ext cx="6324600" cy="510480"/>
          </a:xfrm>
          <a:prstGeom prst="roundRect">
            <a:avLst>
              <a:gd name="adj" fmla="val 18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52095" y="1512540"/>
            <a:ext cx="323850" cy="323850"/>
          </a:xfrm>
          <a:prstGeom prst="ellipse">
            <a:avLst/>
          </a:prstGeom>
          <a:solidFill>
            <a:srgbClr val="7A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2847" y="1613405"/>
            <a:ext cx="121887" cy="12188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807154" y="1650652"/>
            <a:ext cx="857250" cy="47625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807154" y="1650652"/>
            <a:ext cx="857250" cy="47625"/>
          </a:xfrm>
          <a:prstGeom prst="roundRect">
            <a:avLst>
              <a:gd name="adj" fmla="val 50000"/>
            </a:avLst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0" y="1998166"/>
            <a:ext cx="6324600" cy="510480"/>
          </a:xfrm>
          <a:prstGeom prst="roundRect">
            <a:avLst>
              <a:gd name="adj" fmla="val 18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52095" y="2091481"/>
            <a:ext cx="323850" cy="323850"/>
          </a:xfrm>
          <a:prstGeom prst="ellipse">
            <a:avLst/>
          </a:prstGeom>
          <a:solidFill>
            <a:srgbClr val="7A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406" y="2199103"/>
            <a:ext cx="107595" cy="1083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807154" y="2229594"/>
            <a:ext cx="857250" cy="47625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807154" y="2229594"/>
            <a:ext cx="711398" cy="47625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0" y="2577107"/>
            <a:ext cx="6324600" cy="510480"/>
          </a:xfrm>
          <a:prstGeom prst="roundRect">
            <a:avLst>
              <a:gd name="adj" fmla="val 18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52095" y="2670423"/>
            <a:ext cx="323850" cy="323850"/>
          </a:xfrm>
          <a:prstGeom prst="ellipse">
            <a:avLst/>
          </a:prstGeom>
          <a:solidFill>
            <a:srgbClr val="7A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0468" y="2771259"/>
            <a:ext cx="106644" cy="121887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807154" y="2808535"/>
            <a:ext cx="857250" cy="47625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807154" y="2808535"/>
            <a:ext cx="600075" cy="47625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0" y="3156049"/>
            <a:ext cx="6324600" cy="510480"/>
          </a:xfrm>
          <a:prstGeom prst="roundRect">
            <a:avLst>
              <a:gd name="adj" fmla="val 18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052095" y="3249364"/>
            <a:ext cx="323850" cy="323850"/>
          </a:xfrm>
          <a:prstGeom prst="ellipse">
            <a:avLst/>
          </a:prstGeom>
          <a:solidFill>
            <a:srgbClr val="7A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465" y="3350186"/>
            <a:ext cx="106651" cy="12188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807154" y="3387476"/>
            <a:ext cx="857250" cy="47625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807154" y="3387476"/>
            <a:ext cx="488602" cy="47625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0" y="3734990"/>
            <a:ext cx="6324600" cy="510480"/>
          </a:xfrm>
          <a:prstGeom prst="roundRect">
            <a:avLst>
              <a:gd name="adj" fmla="val 18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052095" y="3828305"/>
            <a:ext cx="323850" cy="323850"/>
          </a:xfrm>
          <a:prstGeom prst="ellipse">
            <a:avLst/>
          </a:prstGeom>
          <a:solidFill>
            <a:srgbClr val="7A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2848" y="3947396"/>
            <a:ext cx="121865" cy="8532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807154" y="3966418"/>
            <a:ext cx="857250" cy="47625"/>
          </a:xfrm>
          <a:prstGeom prst="roundRect">
            <a:avLst>
              <a:gd name="adj" fmla="val 50000"/>
            </a:avLst>
          </a:prstGeom>
          <a:solidFill>
            <a:srgbClr val="DED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07154" y="3966418"/>
            <a:ext cx="377130" cy="47625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0" y="4359622"/>
            <a:ext cx="6324600" cy="4572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0" y="4359622"/>
            <a:ext cx="50800" cy="4572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0060" y="4511909"/>
            <a:ext cx="104772" cy="1523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80990" y="257168"/>
            <a:ext cx="6027685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Recommendation Propensity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990" y="752753"/>
            <a:ext cx="3615837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7" b="0" i="1">
                <a:solidFill>
                  <a:srgbClr val="2C1810"/>
                </a:solidFill>
                <a:latin typeface="Aptos"/>
              </a:rPr>
              <a:t>Which product investments actually move loyalty?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990" y="1158449"/>
            <a:ext cx="156325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8A6945"/>
                </a:solidFill>
                <a:latin typeface="Aptos"/>
              </a:rPr>
              <a:t>Model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911" y="1564888"/>
            <a:ext cx="1375583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Logistic Regression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6913" y="1558221"/>
            <a:ext cx="762695" cy="213354"/>
          </a:xfrm>
          <a:prstGeom prst="rect">
            <a:avLst/>
          </a:prstGeom>
          <a:solidFill>
            <a:srgbClr val="4A0E25"/>
          </a:solidFill>
        </p:spPr>
        <p:txBody>
          <a:bodyPr wrap="none" lIns="91437" tIns="30479" rIns="91437" bIns="30479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AUC 0.988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2911" y="1919983"/>
            <a:ext cx="221971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8B6A45"/>
                </a:solidFill>
                <a:latin typeface="Aptos"/>
              </a:rPr>
              <a:t>Best-performing model · Highest AUC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2911" y="2410360"/>
            <a:ext cx="107108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Random Forest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6913" y="2403692"/>
            <a:ext cx="762695" cy="213354"/>
          </a:xfrm>
          <a:prstGeom prst="rect">
            <a:avLst/>
          </a:prstGeom>
          <a:solidFill>
            <a:srgbClr val="4A0E25"/>
          </a:solidFill>
        </p:spPr>
        <p:txBody>
          <a:bodyPr wrap="none" lIns="91437" tIns="30479" rIns="91437" bIns="30479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AUC 0.985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2911" y="2765455"/>
            <a:ext cx="193293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8B6A45"/>
                </a:solidFill>
                <a:latin typeface="Aptos"/>
              </a:rPr>
              <a:t>Ensemble model · Feature robustness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911" y="3255831"/>
            <a:ext cx="611072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4A0E25"/>
                </a:solidFill>
                <a:latin typeface="Playfair Display"/>
              </a:rPr>
              <a:t>XGBoost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6913" y="3249164"/>
            <a:ext cx="762695" cy="213354"/>
          </a:xfrm>
          <a:prstGeom prst="rect">
            <a:avLst/>
          </a:prstGeom>
          <a:solidFill>
            <a:srgbClr val="4A0E25"/>
          </a:solidFill>
        </p:spPr>
        <p:txBody>
          <a:bodyPr wrap="none" lIns="91437" tIns="30479" rIns="91437" bIns="30479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AUC 0.984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2911" y="3610926"/>
            <a:ext cx="217566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8B6A45"/>
                </a:solidFill>
                <a:latin typeface="Aptos"/>
              </a:rPr>
              <a:t>Gradient boosting · Non-linear interactions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2842" y="4039391"/>
            <a:ext cx="421173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29" b="1" i="0">
                <a:solidFill>
                  <a:srgbClr val="D4B07A"/>
                </a:solidFill>
                <a:latin typeface="Playfair Display"/>
              </a:rPr>
              <a:t>96%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719" y="4336445"/>
            <a:ext cx="145356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5" b="0" i="0">
                <a:solidFill>
                  <a:srgbClr val="F7F3EC"/>
                </a:solidFill>
                <a:latin typeface="Aptos"/>
              </a:rPr>
              <a:t>Test accuracy across all models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27842" y="4300132"/>
            <a:ext cx="17431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71" b="1" i="0">
                <a:solidFill>
                  <a:srgbClr val="4A0E25"/>
                </a:solidFill>
                <a:latin typeface="Aptos"/>
              </a:rPr>
              <a:t>SHAP decomposition per-passenger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262" y="1158449"/>
            <a:ext cx="378013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8A6945"/>
                </a:solidFill>
                <a:latin typeface="Aptos"/>
              </a:rPr>
              <a:t>Top 5 Loyalty Drivers — SHAP Feature Importance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57420" y="1579175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2C0F1A"/>
                </a:solidFill>
                <a:highlight>
                  <a:srgbClr val="C9A96E"/>
                </a:highlight>
                <a:latin typeface="Playfair Display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0083" y="1518157"/>
            <a:ext cx="99295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2" b="1" i="0">
                <a:solidFill>
                  <a:srgbClr val="4A0E25"/>
                </a:solidFill>
                <a:latin typeface="Aptos"/>
              </a:rPr>
              <a:t>Value for Money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0083" y="1697193"/>
            <a:ext cx="278539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7A5C3E"/>
                </a:solidFill>
                <a:latin typeface="Aptos"/>
              </a:rPr>
              <a:t>Primary product lever · NLP rank 3 · Numeric score rank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47300" y="2158102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D4B07A"/>
                </a:solidFill>
                <a:highlight>
                  <a:srgbClr val="4A0E25"/>
                </a:highlight>
                <a:latin typeface="Playfair Display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0083" y="2097084"/>
            <a:ext cx="96051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2" b="1" i="0">
                <a:solidFill>
                  <a:srgbClr val="4A0E25"/>
                </a:solidFill>
                <a:latin typeface="Aptos"/>
              </a:rPr>
              <a:t>Ground Service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0083" y="2276120"/>
            <a:ext cx="332399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7A5C3E"/>
                </a:solidFill>
                <a:latin typeface="Aptos"/>
              </a:rPr>
              <a:t>Airport touchpoints set onboard expectations · often underweighted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49830" y="2737029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D4B07A"/>
                </a:solidFill>
                <a:highlight>
                  <a:srgbClr val="4A0E25"/>
                </a:highlight>
                <a:latin typeface="Playfair Display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0083" y="2676011"/>
            <a:ext cx="83118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2" b="1" i="0">
                <a:solidFill>
                  <a:srgbClr val="4A0E25"/>
                </a:solidFill>
                <a:latin typeface="Aptos"/>
              </a:rPr>
              <a:t>Seat Comfort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0083" y="2855047"/>
            <a:ext cx="279923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7A5C3E"/>
                </a:solidFill>
                <a:latin typeface="Aptos"/>
              </a:rPr>
              <a:t>Physical comfort a key determinant of overall satisfaction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47003" y="3315956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D4B07A"/>
                </a:solidFill>
                <a:highlight>
                  <a:srgbClr val="4A0E25"/>
                </a:highlight>
                <a:latin typeface="Playfair Display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0083" y="3254938"/>
            <a:ext cx="102778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2" b="1" i="0">
                <a:solidFill>
                  <a:srgbClr val="4A0E25"/>
                </a:solidFill>
                <a:latin typeface="Aptos"/>
              </a:rPr>
              <a:t>Food &amp; Beverage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0083" y="3433974"/>
            <a:ext cx="379606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7A5C3E"/>
                </a:solidFill>
                <a:latin typeface="Aptos"/>
              </a:rPr>
              <a:t>Below Ground Service in importance — challenges catering-first assumptions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51914" y="3894883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1" i="0">
                <a:solidFill>
                  <a:srgbClr val="D4B07A"/>
                </a:solidFill>
                <a:highlight>
                  <a:srgbClr val="4A0E25"/>
                </a:highlight>
                <a:latin typeface="Playfair Display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0083" y="3833865"/>
            <a:ext cx="126247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2" b="1" i="0">
                <a:solidFill>
                  <a:srgbClr val="4A0E25"/>
                </a:solidFill>
                <a:latin typeface="Aptos"/>
              </a:rPr>
              <a:t>Wi-Fi &amp; Connectivity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0083" y="4012901"/>
            <a:ext cx="301637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7A5C3E"/>
                </a:solidFill>
                <a:latin typeface="Aptos"/>
              </a:rPr>
              <a:t>46% non-response rate signals an unmet product expectation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74843" y="4435711"/>
            <a:ext cx="5332973" cy="30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4A0E25"/>
                </a:solidFill>
                <a:latin typeface="Aptos"/>
              </a:rPr>
              <a:t>Key insight:</a:t>
            </a:r>
            <a:r>
              <a:rPr sz="884" b="0" i="1">
                <a:solidFill>
                  <a:srgbClr val="4A0E25"/>
                </a:solidFill>
                <a:latin typeface="Aptos"/>
              </a:rPr>
              <a:t> Ground Service ranks above Food &amp; Beverage — airport touchpoints drive loyalty before boarding begins.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0990" y="6467313"/>
            <a:ext cx="300774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8A6945"/>
                </a:solidFill>
                <a:latin typeface="Aptos"/>
              </a:rPr>
              <a:t>Passenger Experience Analytics · Edwin Daniels ·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1351" y="6467313"/>
            <a:ext cx="37935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7" b="1" i="0">
                <a:solidFill>
                  <a:srgbClr val="816D47"/>
                </a:solidFill>
                <a:latin typeface="Apto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96182" y="2381250"/>
            <a:ext cx="9525" cy="2095499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15307" y="4175224"/>
            <a:ext cx="762000" cy="2857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33" y="2624071"/>
            <a:ext cx="7398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C9A96E"/>
                </a:solidFill>
                <a:latin typeface="Aptos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633596"/>
            <a:ext cx="1519794" cy="18287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9" b="1" i="0">
                <a:solidFill>
                  <a:srgbClr val="C9A96E"/>
                </a:solidFill>
                <a:latin typeface="Playfair Display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5222" y="1864769"/>
            <a:ext cx="266336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1" b="0" i="0">
                <a:solidFill>
                  <a:srgbClr val="C9A96E"/>
                </a:solidFill>
                <a:latin typeface="Aptos"/>
              </a:rPr>
              <a:t>Strategic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5222" y="2436404"/>
            <a:ext cx="4032992" cy="15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55" b="1" i="0">
                <a:solidFill>
                  <a:srgbClr val="F7F3EC"/>
                </a:solidFill>
                <a:latin typeface="Playfair Display"/>
              </a:rPr>
              <a:t>Data-backed actions</a:t>
            </a:r>
          </a:p>
          <a:p>
            <a:pPr algn="l"/>
            <a:r>
              <a:rPr sz="2855" b="1" i="0">
                <a:solidFill>
                  <a:srgbClr val="F7F3EC"/>
                </a:solidFill>
                <a:latin typeface="Playfair Display"/>
              </a:rPr>
              <a:t>for product and</a:t>
            </a:r>
          </a:p>
          <a:p>
            <a:pPr algn="l"/>
            <a:r>
              <a:rPr sz="2855" b="1" i="0">
                <a:solidFill>
                  <a:srgbClr val="F7F3EC"/>
                </a:solidFill>
                <a:latin typeface="Playfair Display"/>
              </a:rPr>
              <a:t>commercial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5222" y="4460862"/>
            <a:ext cx="3889079" cy="4899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41" b="0" i="1">
                <a:solidFill>
                  <a:srgbClr val="D4B07A"/>
                </a:solidFill>
                <a:latin typeface="Aptos"/>
              </a:rPr>
              <a:t>From analysis to action — five evidence-led product decisions, ranked by evidence strength.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7452" y="6467313"/>
            <a:ext cx="37325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C9A96E"/>
                </a:solidFill>
                <a:latin typeface="Apto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165919"/>
            <a:ext cx="11430000" cy="1905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352550"/>
            <a:ext cx="2164109" cy="4915048"/>
          </a:xfrm>
          <a:prstGeom prst="roundRect">
            <a:avLst>
              <a:gd name="adj" fmla="val 44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0525" y="1362075"/>
            <a:ext cx="2145059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8655" y="1621035"/>
            <a:ext cx="628650" cy="6286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8646" y="1821015"/>
            <a:ext cx="228594" cy="2285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1530" y="2644229"/>
            <a:ext cx="342900" cy="14287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509" y="1352550"/>
            <a:ext cx="2164109" cy="4915048"/>
          </a:xfrm>
          <a:prstGeom prst="roundRect">
            <a:avLst>
              <a:gd name="adj" fmla="val 44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07034" y="1362075"/>
            <a:ext cx="2145059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65165" y="1621035"/>
            <a:ext cx="628650" cy="6286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5098" y="1843874"/>
            <a:ext cx="228594" cy="1828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08040" y="2644229"/>
            <a:ext cx="342900" cy="14287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14019" y="1352550"/>
            <a:ext cx="2164109" cy="4915048"/>
          </a:xfrm>
          <a:prstGeom prst="roundRect">
            <a:avLst>
              <a:gd name="adj" fmla="val 44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3544" y="1362075"/>
            <a:ext cx="2145059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81675" y="1621035"/>
            <a:ext cx="628650" cy="6286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5837" y="1821015"/>
            <a:ext cx="200019" cy="22859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924550" y="2644229"/>
            <a:ext cx="342900" cy="14287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0529" y="1352550"/>
            <a:ext cx="2164109" cy="4915048"/>
          </a:xfrm>
          <a:prstGeom prst="roundRect">
            <a:avLst>
              <a:gd name="adj" fmla="val 44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40054" y="1362075"/>
            <a:ext cx="2145059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98184" y="1621035"/>
            <a:ext cx="628650" cy="6286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8002" y="1843874"/>
            <a:ext cx="228594" cy="1828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41059" y="2644229"/>
            <a:ext cx="342900" cy="14287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47039" y="1352550"/>
            <a:ext cx="2164109" cy="4915048"/>
          </a:xfrm>
          <a:prstGeom prst="roundRect">
            <a:avLst>
              <a:gd name="adj" fmla="val 44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56564" y="1362075"/>
            <a:ext cx="2145059" cy="381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14694" y="1621035"/>
            <a:ext cx="628650" cy="628650"/>
          </a:xfrm>
          <a:prstGeom prst="ellipse">
            <a:avLst/>
          </a:prstGeom>
          <a:solidFill>
            <a:srgbClr val="4A0E25"/>
          </a:solidFill>
          <a:ln w="254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453" y="1866734"/>
            <a:ext cx="228594" cy="13714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0557569" y="2644229"/>
            <a:ext cx="342900" cy="14287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0990" y="287528"/>
            <a:ext cx="4743777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Strategic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90" y="790704"/>
            <a:ext cx="4629778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3" b="0" i="0">
                <a:solidFill>
                  <a:srgbClr val="2C1810"/>
                </a:solidFill>
                <a:latin typeface="Aptos"/>
              </a:rPr>
              <a:t>Five data-backed product decisions — ranked by evidence strength.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97" y="2377172"/>
            <a:ext cx="107689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8" b="1" i="0">
                <a:solidFill>
                  <a:srgbClr val="4A0E25"/>
                </a:solidFill>
                <a:latin typeface="Playfair Display"/>
              </a:rPr>
              <a:t>Value for Money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130" y="2759353"/>
            <a:ext cx="1629776" cy="69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4" b="0" i="0">
                <a:solidFill>
                  <a:srgbClr val="2C1810"/>
                </a:solidFill>
                <a:latin typeface="Aptos"/>
              </a:rPr>
              <a:t>Primary investment lever — product improvement must be made legible to passengers to move NPS.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83" y="3613855"/>
            <a:ext cx="490287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NLP #1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4358" y="3613855"/>
            <a:ext cx="862645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Pearson r=0.86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0296" y="2377172"/>
            <a:ext cx="103819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8" b="1" i="0">
                <a:solidFill>
                  <a:srgbClr val="4A0E25"/>
                </a:solidFill>
                <a:latin typeface="Playfair Display"/>
              </a:rPr>
              <a:t>Ground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8811" y="2759353"/>
            <a:ext cx="1561167" cy="69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4" b="0" i="0">
                <a:solidFill>
                  <a:srgbClr val="2C1810"/>
                </a:solidFill>
                <a:latin typeface="Aptos"/>
              </a:rPr>
              <a:t>Underweighted — airport touchpoints set expectations before boarding; low scores depress all onboard ratings.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47903" y="3613855"/>
            <a:ext cx="805497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Propensity #2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8589" y="3613855"/>
            <a:ext cx="362446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EDA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8302" y="2377172"/>
            <a:ext cx="149508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8" b="1" i="0">
                <a:solidFill>
                  <a:srgbClr val="4A0E25"/>
                </a:solidFill>
                <a:latin typeface="Playfair Display"/>
              </a:rPr>
              <a:t>Economy Meal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1143" y="2759353"/>
            <a:ext cx="1809555" cy="514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4" b="0" i="0">
                <a:solidFill>
                  <a:srgbClr val="2C1810"/>
                </a:solidFill>
                <a:latin typeface="Aptos"/>
              </a:rPr>
              <a:t>A/B trial delivers high-confidence, statistically significant lift — roll out the treatment menu.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5455" y="3432587"/>
            <a:ext cx="536125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p&lt;0.001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6768" y="3432587"/>
            <a:ext cx="669471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+0.30pt lift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9670" y="2377172"/>
            <a:ext cx="138525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8" b="1" i="0">
                <a:solidFill>
                  <a:srgbClr val="4A0E25"/>
                </a:solidFill>
                <a:latin typeface="Playfair Display"/>
              </a:rPr>
              <a:t>IFE Refresh Cadence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7653" y="2759353"/>
            <a:ext cx="1849292" cy="69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4" b="0" i="0">
                <a:solidFill>
                  <a:srgbClr val="2C1810"/>
                </a:solidFill>
                <a:latin typeface="Aptos"/>
              </a:rPr>
              <a:t>Shift from bi-annual to quarterly — closes the recurring mid-year satisfaction dip at low marginal cost.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384" y="3613855"/>
            <a:ext cx="362446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EDA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9019" y="3613855"/>
            <a:ext cx="584344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Low cost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6222" y="2377172"/>
            <a:ext cx="176505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8" b="1" i="0">
                <a:solidFill>
                  <a:srgbClr val="4A0E25"/>
                </a:solidFill>
                <a:latin typeface="Playfair Display"/>
              </a:rPr>
              <a:t>Captive Advocate Program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9462" y="2759353"/>
            <a:ext cx="1838576" cy="514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4" b="0" i="0">
                <a:solidFill>
                  <a:srgbClr val="2C1810"/>
                </a:solidFill>
                <a:latin typeface="Aptos"/>
              </a:rPr>
              <a:t>Identify passengers who recommend without loyalty before a competitor enters the route.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5968" y="3432587"/>
            <a:ext cx="358279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NLP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39436" y="3432587"/>
            <a:ext cx="432096" cy="178684"/>
          </a:xfrm>
          <a:prstGeom prst="rect">
            <a:avLst/>
          </a:prstGeom>
          <a:solidFill>
            <a:srgbClr val="FDF5E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49" b="1" i="0">
                <a:solidFill>
                  <a:srgbClr val="4A0E25"/>
                </a:solidFill>
                <a:latin typeface="Aptos"/>
              </a:rPr>
              <a:t>SHAP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990" y="6472075"/>
            <a:ext cx="275875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1" b="0" i="0">
                <a:solidFill>
                  <a:srgbClr val="8A6945"/>
                </a:solidFill>
                <a:latin typeface="Aptos"/>
              </a:rPr>
              <a:t>Passenger Experience Analytics · Edwin Daniels ·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72297" y="6467313"/>
            <a:ext cx="1384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816D4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038522"/>
            <a:ext cx="571500" cy="2857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219348"/>
            <a:ext cx="11430000" cy="536971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0525" y="1228873"/>
            <a:ext cx="2305050" cy="517921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2925" y="1335434"/>
            <a:ext cx="304800" cy="3048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661" y="1431150"/>
            <a:ext cx="113296" cy="113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1840110"/>
            <a:ext cx="11430000" cy="536971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0525" y="1849635"/>
            <a:ext cx="2305050" cy="517921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2925" y="1956196"/>
            <a:ext cx="304800" cy="3048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68" y="2056753"/>
            <a:ext cx="129477" cy="10358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1000" y="2460873"/>
            <a:ext cx="11430000" cy="536971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0525" y="2470398"/>
            <a:ext cx="2305050" cy="517921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2925" y="2576958"/>
            <a:ext cx="304800" cy="3048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568" y="2664552"/>
            <a:ext cx="129477" cy="1294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1000" y="3081635"/>
            <a:ext cx="11430000" cy="536971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0525" y="3091160"/>
            <a:ext cx="2305050" cy="517921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2925" y="3197721"/>
            <a:ext cx="304800" cy="3048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718" y="3287448"/>
            <a:ext cx="125178" cy="12517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1000" y="3702397"/>
            <a:ext cx="11430000" cy="536971"/>
          </a:xfrm>
          <a:prstGeom prst="roundRect">
            <a:avLst>
              <a:gd name="adj" fmla="val 17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0525" y="3711922"/>
            <a:ext cx="2305050" cy="517921"/>
          </a:xfrm>
          <a:prstGeom prst="rect">
            <a:avLst/>
          </a:prstGeom>
          <a:solidFill>
            <a:srgbClr val="4A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2925" y="3818483"/>
            <a:ext cx="304800" cy="3048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68" y="3914137"/>
            <a:ext cx="129477" cy="113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0990" y="257168"/>
            <a:ext cx="2653687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47" b="1" i="0">
                <a:solidFill>
                  <a:srgbClr val="4A0E25"/>
                </a:solidFill>
                <a:latin typeface="Playfair Display"/>
              </a:rPr>
              <a:t>Technical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752753"/>
            <a:ext cx="4382580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7" b="0" i="1">
                <a:solidFill>
                  <a:srgbClr val="4A0E25"/>
                </a:solidFill>
                <a:latin typeface="Aptos"/>
              </a:rPr>
              <a:t>End-to-end capability: from raw data to executive dashboard.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1" y="1403265"/>
            <a:ext cx="93997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Data &amp;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339" y="1390644"/>
            <a:ext cx="805020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Python 3.12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2100" y="1390644"/>
            <a:ext cx="582082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Pandas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3922" y="1390644"/>
            <a:ext cx="574938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8600" y="1390644"/>
            <a:ext cx="733436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Matplotlib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1777" y="1390644"/>
            <a:ext cx="63536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Seaborn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6878" y="1390644"/>
            <a:ext cx="487280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SciPy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1" y="2024011"/>
            <a:ext cx="106394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Machine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339" y="2011391"/>
            <a:ext cx="80115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Scikit-learn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8230" y="2011391"/>
            <a:ext cx="644885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856" y="2011391"/>
            <a:ext cx="489959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SHAP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2556" y="2011391"/>
            <a:ext cx="1203572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Logistic 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869" y="2011391"/>
            <a:ext cx="986586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Random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2196" y="2011391"/>
            <a:ext cx="852347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Stratified CV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1" y="2644758"/>
            <a:ext cx="50912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NLP &amp;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7339" y="2632138"/>
            <a:ext cx="854133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Llama 3.1 8B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1212" y="2632138"/>
            <a:ext cx="65054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Groq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1493" y="2632138"/>
            <a:ext cx="57836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Ollama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9595" y="2632138"/>
            <a:ext cx="1406866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Sentence Transformers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6202" y="2632138"/>
            <a:ext cx="1054748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all-MiniLM-L6-v2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0690" y="2632138"/>
            <a:ext cx="874075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Claude 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1" y="3265505"/>
            <a:ext cx="156101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Clustering &amp; Visualisation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339" y="3252884"/>
            <a:ext cx="650094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K-Means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7174" y="3252884"/>
            <a:ext cx="511688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UMAP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602" y="3252884"/>
            <a:ext cx="1198215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Silhouette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6557" y="3252884"/>
            <a:ext cx="787757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WordCloud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081" y="3886251"/>
            <a:ext cx="100262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4" b="1" i="0">
                <a:solidFill>
                  <a:srgbClr val="F7F3EC"/>
                </a:solidFill>
                <a:latin typeface="Aptos"/>
              </a:rPr>
              <a:t>BI &amp; 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57339" y="3873631"/>
            <a:ext cx="1166515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Microsoft Power BI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3594" y="3873631"/>
            <a:ext cx="417035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DAX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0370" y="3873631"/>
            <a:ext cx="527909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08020" y="3873631"/>
            <a:ext cx="35170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Git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9462" y="3873631"/>
            <a:ext cx="568538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GitHub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7741" y="3873631"/>
            <a:ext cx="939111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BeautifulSoup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06593" y="3873631"/>
            <a:ext cx="688044" cy="194305"/>
          </a:xfrm>
          <a:prstGeom prst="rect">
            <a:avLst/>
          </a:prstGeom>
          <a:solidFill>
            <a:srgbClr val="FDF5E8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827" b="1" i="0">
                <a:solidFill>
                  <a:srgbClr val="4A0E25"/>
                </a:solidFill>
                <a:latin typeface="Aptos"/>
              </a:rPr>
              <a:t>Requests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990" y="6495887"/>
            <a:ext cx="272750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A6945"/>
                </a:solidFill>
                <a:latin typeface="Aptos"/>
              </a:rPr>
              <a:t>Passenger Experience Analytics — Edwin Daniels ·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88519" y="6495887"/>
            <a:ext cx="12218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0" i="0">
                <a:solidFill>
                  <a:srgbClr val="816D4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305425"/>
            <a:ext cx="19050" cy="1524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15750" y="5305425"/>
            <a:ext cx="19050" cy="1524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24500" y="3346846"/>
            <a:ext cx="1143000" cy="1905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5977" y="4374172"/>
            <a:ext cx="144657" cy="10849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089" y="4639414"/>
            <a:ext cx="126575" cy="126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77520" y="2059878"/>
            <a:ext cx="343665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5" b="0" i="0">
                <a:solidFill>
                  <a:srgbClr val="C9A96E"/>
                </a:solidFill>
                <a:latin typeface="Aptos"/>
              </a:rPr>
              <a:t>Passenger Experience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663" y="2297997"/>
            <a:ext cx="2966219" cy="8572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635" b="0" i="1">
                <a:solidFill>
                  <a:srgbClr val="F7F3EC"/>
                </a:solidFill>
                <a:latin typeface="Playfair Display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6506" y="3744570"/>
            <a:ext cx="1698532" cy="3143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80" b="1" i="0">
                <a:solidFill>
                  <a:srgbClr val="D4B07A"/>
                </a:solidFill>
                <a:latin typeface="Playfair Display"/>
              </a:rPr>
              <a:t>Edwin Daniels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7193" y="4333171"/>
            <a:ext cx="190822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D4B07A"/>
                </a:solidFill>
                <a:latin typeface="Aptos"/>
              </a:rPr>
              <a:t>edwin.d.daniels@gmail.com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1264" y="4607454"/>
            <a:ext cx="204023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D4B07A"/>
                </a:solidFill>
                <a:latin typeface="Aptos"/>
              </a:rPr>
              <a:t>linkedin.com/in/edwin-daniels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6099" y="6513151"/>
            <a:ext cx="1384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7" b="0" i="0">
                <a:solidFill>
                  <a:srgbClr val="C9A9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Edwin Daniels</dc:creator>
  <cp:keywords/>
  <dc:description>generated using python-pptx</dc:description>
  <cp:lastModifiedBy>Edwin Daniels</cp:lastModifiedBy>
  <cp:revision>2</cp:revision>
  <dcterms:created xsi:type="dcterms:W3CDTF">2026-06-29T20:13:10Z</dcterms:created>
  <dcterms:modified xsi:type="dcterms:W3CDTF">2026-06-29T20:16:09Z</dcterms:modified>
  <cp:category/>
</cp:coreProperties>
</file>